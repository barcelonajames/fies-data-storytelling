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y="5143500" cx="9144000"/>
  <p:notesSz cx="6858000" cy="9144000"/>
  <p:embeddedFontLst>
    <p:embeddedFont>
      <p:font typeface="Roboto Mono Medium"/>
      <p:regular r:id="rId51"/>
      <p:bold r:id="rId52"/>
      <p:italic r:id="rId53"/>
      <p:boldItalic r:id="rId54"/>
    </p:embeddedFont>
    <p:embeddedFont>
      <p:font typeface="Roboto Mono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546E86-2151-4CD8-9B7F-789E5151B275}">
  <a:tblStyle styleId="{31546E86-2151-4CD8-9B7F-789E5151B27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MonoMedium-regular.fntdata"/><Relationship Id="rId50" Type="http://schemas.openxmlformats.org/officeDocument/2006/relationships/slide" Target="slides/slide44.xml"/><Relationship Id="rId53" Type="http://schemas.openxmlformats.org/officeDocument/2006/relationships/font" Target="fonts/RobotoMonoMedium-italic.fntdata"/><Relationship Id="rId52" Type="http://schemas.openxmlformats.org/officeDocument/2006/relationships/font" Target="fonts/RobotoMonoMedium-bold.fntdata"/><Relationship Id="rId11" Type="http://schemas.openxmlformats.org/officeDocument/2006/relationships/slide" Target="slides/slide5.xml"/><Relationship Id="rId55" Type="http://schemas.openxmlformats.org/officeDocument/2006/relationships/font" Target="fonts/RobotoMono-regular.fntdata"/><Relationship Id="rId10" Type="http://schemas.openxmlformats.org/officeDocument/2006/relationships/slide" Target="slides/slide4.xml"/><Relationship Id="rId54" Type="http://schemas.openxmlformats.org/officeDocument/2006/relationships/font" Target="fonts/RobotoMonoMedium-boldItalic.fntdata"/><Relationship Id="rId13" Type="http://schemas.openxmlformats.org/officeDocument/2006/relationships/slide" Target="slides/slide7.xml"/><Relationship Id="rId57" Type="http://schemas.openxmlformats.org/officeDocument/2006/relationships/font" Target="fonts/RobotoMono-italic.fntdata"/><Relationship Id="rId12" Type="http://schemas.openxmlformats.org/officeDocument/2006/relationships/slide" Target="slides/slide6.xml"/><Relationship Id="rId56" Type="http://schemas.openxmlformats.org/officeDocument/2006/relationships/font" Target="fonts/RobotoMon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8" Type="http://schemas.openxmlformats.org/officeDocument/2006/relationships/font" Target="fonts/RobotoMon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e7038bf2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e7038bf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e7038bf2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e7038bf2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e7038bf2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e7038bf2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f107e0dc8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f107e0dc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ce7038bf24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ce7038bf24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ce7038bf24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ce7038bf24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ce7038bf24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ce7038bf24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e7038bf24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ce7038bf2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cf0a9e463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cf0a9e463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eccbcfc10_2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eccbcfc10_2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eccbcfc10_2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eccbcfc10_2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eccbcfc10_2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eccbcfc10_2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ceccbcfc10_2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ceccbcfc10_2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ceccbcfc10_2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ceccbcfc10_2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ce7038bf24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ce7038bf24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ceccbcfc10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ceccbcfc10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eccbcfc1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eccbcfc1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ceccbcfc10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ceccbcfc10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ce830d966d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ce830d966d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ce7038bf24_3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ce7038bf24_3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ce7038bf24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ce7038bf24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ceccbcfc10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ceccbcfc10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eccbcfc10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eccbcfc10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e7038bf24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e7038bf24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eccbcfc10_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eccbcfc10_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eccbcfc10_2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eccbcfc10_2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e7038bf24_3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e7038bf24_3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ce7038bf24_3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ce7038bf24_3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e7038bf24_3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e7038bf24_3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ceccbcfc10_2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ceccbcfc10_2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ceccbcfc10_2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ceccbcfc10_2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ceccbcfc10_2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ceccbcfc10_2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ceeb60481d_4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ceeb60481d_4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eeb60481d_4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ceeb60481d_4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7038bf2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7038bf2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ce7038bf24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ce7038bf24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ce7038bf24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ce7038bf24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ce7038bf24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ce7038bf24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ceccbcfc10_2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ceccbcfc10_2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ceccbcfc10_2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ceccbcfc10_2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ceccbcfc10_2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ceccbcfc10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ceccbcfc10_2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ceccbcfc10_2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ceccbcfc10_2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ceccbcfc10_2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10" Type="http://schemas.openxmlformats.org/officeDocument/2006/relationships/image" Target="../media/image5.png"/><Relationship Id="rId9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24.png"/><Relationship Id="rId7" Type="http://schemas.openxmlformats.org/officeDocument/2006/relationships/image" Target="../media/image12.png"/><Relationship Id="rId8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9.png"/><Relationship Id="rId8" Type="http://schemas.openxmlformats.org/officeDocument/2006/relationships/image" Target="../media/image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6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D966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Activity 2: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89"/>
              <a:t>Uncovering Stories from Data</a:t>
            </a:r>
            <a:endParaRPr b="1" sz="5089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Members:</a:t>
            </a:r>
            <a:r>
              <a:rPr lang="en" sz="14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 </a:t>
            </a:r>
            <a:r>
              <a:rPr lang="en" sz="14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Euie, James, JB, John, Matt</a:t>
            </a:r>
            <a:endParaRPr sz="14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D966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Contents &amp; Sequence:</a:t>
            </a:r>
            <a:endParaRPr b="1"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Urban vs. Rural Differences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James)</a:t>
            </a:r>
            <a:endParaRPr sz="1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Impact of Education on Income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Euie)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Household Size and Spending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John)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Gender Differences in Household Economics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Matt)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Regional Spending Patterns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JB)</a:t>
            </a:r>
            <a:endParaRPr b="1"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b="1" lang="en">
                <a:solidFill>
                  <a:schemeClr val="dk1"/>
                </a:solidFill>
              </a:rPr>
              <a:t>Personal Exploration: “</a:t>
            </a:r>
            <a:r>
              <a:rPr b="1" lang="en">
                <a:solidFill>
                  <a:schemeClr val="dk1"/>
                </a:solidFill>
              </a:rPr>
              <a:t>Impact of Lifestyle on Household Cost of Living</a:t>
            </a:r>
            <a:r>
              <a:rPr b="1" lang="en">
                <a:solidFill>
                  <a:schemeClr val="dk1"/>
                </a:solidFill>
              </a:rPr>
              <a:t>”</a:t>
            </a:r>
            <a:endParaRPr b="1"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>
                <a:solidFill>
                  <a:schemeClr val="dk1"/>
                </a:solidFill>
              </a:rPr>
              <a:t>Special Occasions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JB)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>
                <a:solidFill>
                  <a:schemeClr val="dk1"/>
                </a:solidFill>
              </a:rPr>
              <a:t>Number of Car, Jeep, Van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Matt)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>
                <a:solidFill>
                  <a:schemeClr val="dk1"/>
                </a:solidFill>
              </a:rPr>
              <a:t>Tenure Status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John)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>
                <a:solidFill>
                  <a:schemeClr val="dk1"/>
                </a:solidFill>
              </a:rPr>
              <a:t>Clothing, Footwear and Other Wear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James)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lang="en">
                <a:solidFill>
                  <a:schemeClr val="dk1"/>
                </a:solidFill>
              </a:rPr>
              <a:t>Tobacco + </a:t>
            </a:r>
            <a:r>
              <a:rPr lang="en">
                <a:solidFill>
                  <a:schemeClr val="dk1"/>
                </a:solidFill>
              </a:rPr>
              <a:t>Alcoholic Beverages</a:t>
            </a:r>
            <a:r>
              <a:rPr lang="en">
                <a:solidFill>
                  <a:schemeClr val="dk1"/>
                </a:solidFill>
              </a:rPr>
              <a:t>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Euie)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1. </a:t>
            </a:r>
            <a:r>
              <a:rPr b="1" lang="en" sz="2200">
                <a:solidFill>
                  <a:srgbClr val="0B5394"/>
                </a:solidFill>
              </a:rPr>
              <a:t>Urban</a:t>
            </a:r>
            <a:r>
              <a:rPr b="1" lang="en" sz="2200"/>
              <a:t> vs. </a:t>
            </a:r>
            <a:r>
              <a:rPr b="1" lang="en" sz="2200">
                <a:solidFill>
                  <a:srgbClr val="38761D"/>
                </a:solidFill>
              </a:rPr>
              <a:t>Rural</a:t>
            </a:r>
            <a:r>
              <a:rPr b="1" lang="en" sz="2200"/>
              <a:t> Differences (NCR vs. VIII Eastern Visayas)</a:t>
            </a:r>
            <a:endParaRPr b="1" sz="2200"/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437550" y="1017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444450"/>
                <a:gridCol w="1148375"/>
                <a:gridCol w="1175075"/>
                <a:gridCol w="889725"/>
              </a:tblGrid>
              <a:tr h="651625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Income Bracket</a:t>
                      </a:r>
                      <a:endParaRPr b="1" sz="950"/>
                    </a:p>
                  </a:txBody>
                  <a:tcPr marT="66675" marB="66675" marR="66675" marL="6667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Annual Household Income</a:t>
                      </a:r>
                      <a:endParaRPr b="1" sz="9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Total Expenditure</a:t>
                      </a:r>
                      <a:endParaRPr b="1" sz="9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0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Poor</a:t>
                      </a:r>
                      <a:endParaRPr sz="1050"/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102868.52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132141.08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Low Income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198776.17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226004.41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2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Lower Middle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371226.56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372991.53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4520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3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Middle Income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685871.06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637947.56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4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Upper Middle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1141796.34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969129.13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470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5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Upper Middle not Rich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2024821.18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1506951.32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470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6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Rich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3485836.88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2466226.76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</a:tbl>
          </a:graphicData>
        </a:graphic>
      </p:graphicFrame>
      <p:sp>
        <p:nvSpPr>
          <p:cNvPr id="68" name="Google Shape;68;p15"/>
          <p:cNvSpPr txBox="1"/>
          <p:nvPr/>
        </p:nvSpPr>
        <p:spPr>
          <a:xfrm>
            <a:off x="643362" y="4380625"/>
            <a:ext cx="32460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Urban = NCR (Annual Average)</a:t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id="69" name="Google Shape;69;p15" title="01a_UrbanIncomeExpenditur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3542" y="977667"/>
            <a:ext cx="4488759" cy="36866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7455725" y="2256050"/>
            <a:ext cx="1210500" cy="19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98425" lvl="0" marL="57150" rtl="0" algn="just">
              <a:spcBef>
                <a:spcPts val="0"/>
              </a:spcBef>
              <a:spcAft>
                <a:spcPts val="0"/>
              </a:spcAft>
              <a:buSzPts val="650"/>
              <a:buChar char="●"/>
            </a:pPr>
            <a:r>
              <a:rPr lang="en" sz="650"/>
              <a:t>The scatter plot shows a strong positive correlation between income and expenditure: as household income rises, total expenditure also rises.</a:t>
            </a:r>
            <a:endParaRPr sz="65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0"/>
          </a:p>
          <a:p>
            <a:pPr indent="-98425" lvl="0" marL="57150" rtl="0" algn="just">
              <a:spcBef>
                <a:spcPts val="0"/>
              </a:spcBef>
              <a:spcAft>
                <a:spcPts val="0"/>
              </a:spcAft>
              <a:buSzPts val="650"/>
              <a:buChar char="●"/>
            </a:pPr>
            <a:r>
              <a:rPr lang="en" sz="650"/>
              <a:t>However, the slope is relatively steep at lower brackets (poor households overspend relative to income), then flattens at higher brackets (rich households save more, so expenditure grows slower than income).</a:t>
            </a:r>
            <a:endParaRPr sz="650"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50"/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1. </a:t>
            </a:r>
            <a:r>
              <a:rPr b="1" lang="en" sz="2200">
                <a:solidFill>
                  <a:srgbClr val="0B5394"/>
                </a:solidFill>
              </a:rPr>
              <a:t>Urban</a:t>
            </a:r>
            <a:r>
              <a:rPr b="1" lang="en" sz="2200"/>
              <a:t> vs. </a:t>
            </a:r>
            <a:r>
              <a:rPr b="1" lang="en" sz="2200">
                <a:solidFill>
                  <a:srgbClr val="38761D"/>
                </a:solidFill>
              </a:rPr>
              <a:t>Rural</a:t>
            </a:r>
            <a:r>
              <a:rPr b="1" lang="en" sz="2200"/>
              <a:t> Differences (NCR vs. VIII Eastern Visayas)</a:t>
            </a:r>
            <a:endParaRPr b="1" sz="2200"/>
          </a:p>
        </p:txBody>
      </p:sp>
      <p:graphicFrame>
        <p:nvGraphicFramePr>
          <p:cNvPr id="76" name="Google Shape;76;p16"/>
          <p:cNvGraphicFramePr/>
          <p:nvPr/>
        </p:nvGraphicFramePr>
        <p:xfrm>
          <a:off x="437550" y="1017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444450"/>
                <a:gridCol w="1148375"/>
                <a:gridCol w="1175075"/>
                <a:gridCol w="889725"/>
              </a:tblGrid>
              <a:tr h="651625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Income Bracket</a:t>
                      </a:r>
                      <a:endParaRPr b="1" sz="950"/>
                    </a:p>
                  </a:txBody>
                  <a:tcPr marT="66675" marB="66675" marR="66675" marL="6667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Annual Household Income</a:t>
                      </a:r>
                      <a:endParaRPr b="1" sz="9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/>
                        <a:t>Total Expenditure</a:t>
                      </a:r>
                      <a:endParaRPr b="1" sz="9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0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Poor</a:t>
                      </a:r>
                      <a:endParaRPr sz="1050"/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86842.84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94300.07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Low Income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179450.44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169383.27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2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Lower Middle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364196.00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313352.36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4520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3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Middle Income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674303.56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474309.18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289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4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Upper Middle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1177287.24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740481.74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470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5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Upper Middle not Rich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1944425.60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1042423.90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  <a:tr h="470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6</a:t>
                      </a:r>
                      <a:endParaRPr b="1" sz="10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/>
                        <a:t>Rich</a:t>
                      </a:r>
                      <a:endParaRPr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5313682.67</a:t>
                      </a:r>
                      <a:endParaRPr b="1" sz="10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/>
                        <a:t>1367594.00</a:t>
                      </a:r>
                      <a:endParaRPr b="1" sz="1050"/>
                    </a:p>
                  </a:txBody>
                  <a:tcPr marT="66675" marB="66675" marR="66675" marL="66675"/>
                </a:tc>
              </a:tr>
            </a:tbl>
          </a:graphicData>
        </a:graphic>
      </p:graphicFrame>
      <p:sp>
        <p:nvSpPr>
          <p:cNvPr id="77" name="Google Shape;77;p16"/>
          <p:cNvSpPr txBox="1"/>
          <p:nvPr/>
        </p:nvSpPr>
        <p:spPr>
          <a:xfrm>
            <a:off x="643362" y="4380625"/>
            <a:ext cx="32460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Rural</a:t>
            </a:r>
            <a:r>
              <a:rPr b="1" lang="en" sz="1100">
                <a:solidFill>
                  <a:schemeClr val="dk1"/>
                </a:solidFill>
              </a:rPr>
              <a:t> = VIII Eastern Visayas (Annual Average)</a:t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id="78" name="Google Shape;78;p16" title="01a_RuralIncomeExpenditures.png"/>
          <p:cNvPicPr preferRelativeResize="0"/>
          <p:nvPr/>
        </p:nvPicPr>
        <p:blipFill rotWithShape="1">
          <a:blip r:embed="rId3">
            <a:alphaModFix/>
          </a:blip>
          <a:srcRect b="0" l="1143" r="1153" t="0"/>
          <a:stretch/>
        </p:blipFill>
        <p:spPr>
          <a:xfrm>
            <a:off x="4343542" y="1017725"/>
            <a:ext cx="4488759" cy="368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3548" y="977665"/>
            <a:ext cx="4594071" cy="36866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7455725" y="1962700"/>
            <a:ext cx="1210500" cy="22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98425" lvl="0" marL="5715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650"/>
              <a:buChar char="●"/>
            </a:pPr>
            <a:r>
              <a:rPr lang="en" sz="650">
                <a:solidFill>
                  <a:schemeClr val="dk1"/>
                </a:solidFill>
              </a:rPr>
              <a:t>The scatter plot also shows a </a:t>
            </a:r>
            <a:r>
              <a:rPr b="1" lang="en" sz="650">
                <a:solidFill>
                  <a:schemeClr val="dk1"/>
                </a:solidFill>
              </a:rPr>
              <a:t>positive correlation</a:t>
            </a:r>
            <a:r>
              <a:rPr lang="en" sz="650">
                <a:solidFill>
                  <a:schemeClr val="dk1"/>
                </a:solidFill>
              </a:rPr>
              <a:t>: higher income households spend more. </a:t>
            </a:r>
            <a:endParaRPr sz="650">
              <a:solidFill>
                <a:schemeClr val="dk1"/>
              </a:solidFill>
            </a:endParaRPr>
          </a:p>
          <a:p>
            <a:pPr indent="-98425" lvl="0" marL="571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"/>
              <a:buChar char="●"/>
            </a:pPr>
            <a:r>
              <a:rPr lang="en" sz="650">
                <a:solidFill>
                  <a:schemeClr val="dk1"/>
                </a:solidFill>
              </a:rPr>
              <a:t>But the slope is flatter overall compared to NCR — expenditure grows more slowly relative to income.</a:t>
            </a:r>
            <a:endParaRPr sz="650">
              <a:solidFill>
                <a:schemeClr val="dk1"/>
              </a:solidFill>
            </a:endParaRPr>
          </a:p>
          <a:p>
            <a:pPr indent="-98425" lvl="0" marL="571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"/>
              <a:buChar char="●"/>
            </a:pPr>
            <a:r>
              <a:rPr lang="en" sz="650">
                <a:solidFill>
                  <a:schemeClr val="dk1"/>
                </a:solidFill>
              </a:rPr>
              <a:t>Poor households spend less than income, and rich households spend far less relative to income, so the points cluster below the “income = expenditure” line.</a:t>
            </a:r>
            <a:endParaRPr sz="6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1. </a:t>
            </a:r>
            <a:r>
              <a:rPr b="1" lang="en" sz="2200">
                <a:solidFill>
                  <a:srgbClr val="0B5394"/>
                </a:solidFill>
              </a:rPr>
              <a:t>Urban</a:t>
            </a:r>
            <a:r>
              <a:rPr b="1" lang="en" sz="2200"/>
              <a:t> vs. </a:t>
            </a:r>
            <a:r>
              <a:rPr b="1" lang="en" sz="2200">
                <a:solidFill>
                  <a:srgbClr val="38761D"/>
                </a:solidFill>
              </a:rPr>
              <a:t>Rural</a:t>
            </a:r>
            <a:r>
              <a:rPr b="1" lang="en" sz="2200"/>
              <a:t> Differences (NCR vs. VIII Eastern Visayas)</a:t>
            </a:r>
            <a:endParaRPr b="1" sz="2200"/>
          </a:p>
        </p:txBody>
      </p:sp>
      <p:pic>
        <p:nvPicPr>
          <p:cNvPr id="86" name="Google Shape;8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788" y="981209"/>
            <a:ext cx="2138481" cy="1689241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8797" y="981209"/>
            <a:ext cx="2105067" cy="1689241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60288" y="981192"/>
            <a:ext cx="2138479" cy="168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37312" y="981180"/>
            <a:ext cx="2105075" cy="168926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0" name="Google Shape;90;p17"/>
          <p:cNvGraphicFramePr/>
          <p:nvPr/>
        </p:nvGraphicFramePr>
        <p:xfrm>
          <a:off x="459688" y="270249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485925"/>
                <a:gridCol w="1255550"/>
                <a:gridCol w="1284775"/>
                <a:gridCol w="972800"/>
              </a:tblGrid>
              <a:tr h="353375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Income Bracket</a:t>
                      </a:r>
                      <a:endParaRPr b="1" sz="750"/>
                    </a:p>
                  </a:txBody>
                  <a:tcPr marT="66675" marB="66675" marR="66675" marL="6667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Annual Household Income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Total Expenditure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0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Poor</a:t>
                      </a:r>
                      <a:endParaRPr sz="750"/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102868.52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132141.08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 Income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198776.17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226004.41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Lower Middle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371226.56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372991.53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Middle Income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685871.06</a:t>
                      </a:r>
                      <a:endParaRPr b="1"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637947.56</a:t>
                      </a:r>
                      <a:endParaRPr b="1" sz="750"/>
                    </a:p>
                  </a:txBody>
                  <a:tcPr marT="66675" marB="66675" marR="66675" marL="66675"/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4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1141796.34</a:t>
                      </a:r>
                      <a:endParaRPr b="1"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969129.13</a:t>
                      </a:r>
                      <a:endParaRPr b="1" sz="750"/>
                    </a:p>
                  </a:txBody>
                  <a:tcPr marT="66675" marB="66675" marR="66675" marL="66675"/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5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 not Rich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2024821.18</a:t>
                      </a:r>
                      <a:endParaRPr b="1"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1506951.32</a:t>
                      </a:r>
                      <a:endParaRPr b="1" sz="750"/>
                    </a:p>
                  </a:txBody>
                  <a:tcPr marT="66675" marB="66675" marR="66675" marL="66675"/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</a:t>
                      </a:r>
                      <a:endParaRPr b="1" sz="750"/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Rich</a:t>
                      </a:r>
                      <a:endParaRPr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3485836.88</a:t>
                      </a:r>
                      <a:endParaRPr b="1" sz="750"/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2466226.76</a:t>
                      </a:r>
                      <a:endParaRPr b="1" sz="750"/>
                    </a:p>
                  </a:txBody>
                  <a:tcPr marT="66675" marB="66675" marR="66675" marL="66675"/>
                </a:tc>
              </a:tr>
            </a:tbl>
          </a:graphicData>
        </a:graphic>
      </p:graphicFrame>
      <p:graphicFrame>
        <p:nvGraphicFramePr>
          <p:cNvPr id="91" name="Google Shape;91;p17"/>
          <p:cNvGraphicFramePr/>
          <p:nvPr/>
        </p:nvGraphicFramePr>
        <p:xfrm>
          <a:off x="4729788" y="270249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504675"/>
                <a:gridCol w="1304000"/>
                <a:gridCol w="1334325"/>
                <a:gridCol w="1010325"/>
              </a:tblGrid>
              <a:tr h="353375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Income Bracket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Annual Household Income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Total Expenditure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0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Poor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86842.84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94300.07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 Income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179450.44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169383.27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Lower Middle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364196.00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313352.36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Middle Income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674303.56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474309.18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4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1177287.24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740481.74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5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 not Rich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1944425.60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1042423.90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0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</a:t>
                      </a:r>
                      <a:endParaRPr b="1" sz="750"/>
                    </a:p>
                  </a:txBody>
                  <a:tcPr marT="66675" marB="66675" marR="66675" marL="6667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Rich</a:t>
                      </a:r>
                      <a:endParaRPr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5313682.67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1367594.00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92" name="Google Shape;92;p17" title="01a_UrbanIncomeExpenditure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360283" y="914125"/>
            <a:ext cx="2138475" cy="175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21788" y="914100"/>
            <a:ext cx="2188658" cy="175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98780" y="914118"/>
            <a:ext cx="2188650" cy="1756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733562" y="914102"/>
            <a:ext cx="2188650" cy="17563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b="1" lang="en" sz="2200"/>
              <a:t>1. </a:t>
            </a:r>
            <a:r>
              <a:rPr b="1" lang="en" sz="2200">
                <a:solidFill>
                  <a:srgbClr val="0B5394"/>
                </a:solidFill>
              </a:rPr>
              <a:t>Urban</a:t>
            </a:r>
            <a:r>
              <a:rPr b="1" lang="en" sz="2200"/>
              <a:t> vs. </a:t>
            </a:r>
            <a:r>
              <a:rPr b="1" lang="en" sz="2200">
                <a:solidFill>
                  <a:srgbClr val="38761D"/>
                </a:solidFill>
              </a:rPr>
              <a:t>Rural</a:t>
            </a:r>
            <a:r>
              <a:rPr b="1" lang="en" sz="2200"/>
              <a:t> Differences (NCR vs. VIII Eastern Visayas)</a:t>
            </a:r>
            <a:endParaRPr b="1" sz="2200">
              <a:solidFill>
                <a:srgbClr val="0B5394"/>
              </a:solidFill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" sz="1600">
                <a:solidFill>
                  <a:schemeClr val="dk1"/>
                </a:solidFill>
              </a:rPr>
              <a:t>NCR:</a:t>
            </a:r>
            <a:r>
              <a:rPr lang="en" sz="1600">
                <a:solidFill>
                  <a:schemeClr val="dk1"/>
                </a:solidFill>
              </a:rPr>
              <a:t> </a:t>
            </a:r>
            <a:r>
              <a:rPr lang="en" sz="1600">
                <a:solidFill>
                  <a:srgbClr val="CC0000"/>
                </a:solidFill>
              </a:rPr>
              <a:t>Low-income households overspend relative to income;</a:t>
            </a:r>
            <a:r>
              <a:rPr lang="en" sz="1600">
                <a:solidFill>
                  <a:schemeClr val="dk1"/>
                </a:solidFill>
              </a:rPr>
              <a:t> middle brackets balance; rich households save but still spend heavily in absolute terms. </a:t>
            </a:r>
            <a:r>
              <a:rPr b="1" lang="en" sz="1600">
                <a:solidFill>
                  <a:srgbClr val="0B5394"/>
                </a:solidFill>
              </a:rPr>
              <a:t>Stronger, steeper positive correlation — income and expenditure rise together, especially at lower brackets. Consumption-driven behavior.</a:t>
            </a:r>
            <a:endParaRPr b="1" sz="1600">
              <a:solidFill>
                <a:srgbClr val="0B5394"/>
              </a:solidFill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" sz="1600">
                <a:solidFill>
                  <a:schemeClr val="dk1"/>
                </a:solidFill>
              </a:rPr>
              <a:t>VIII Eastern Visayas:</a:t>
            </a:r>
            <a:r>
              <a:rPr lang="en" sz="1600">
                <a:solidFill>
                  <a:schemeClr val="dk1"/>
                </a:solidFill>
              </a:rPr>
              <a:t> Low-income households spend less than income; middle and upper brackets consistently spend below income; rich households spend far less relative to income. </a:t>
            </a:r>
            <a:r>
              <a:rPr b="1" lang="en" sz="1600">
                <a:solidFill>
                  <a:srgbClr val="38761D"/>
                </a:solidFill>
              </a:rPr>
              <a:t>Positive but flatter correlation — households spend less relative to income, especially at higher brackets. Savings-driven behavior.</a:t>
            </a:r>
            <a:endParaRPr b="1" sz="1600">
              <a:solidFill>
                <a:srgbClr val="38761D"/>
              </a:solidFill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AutoNum type="arabicPeriod"/>
            </a:pPr>
            <a:r>
              <a:rPr b="1" lang="en" sz="1600">
                <a:solidFill>
                  <a:schemeClr val="dk1"/>
                </a:solidFill>
              </a:rPr>
              <a:t>Insight:</a:t>
            </a:r>
            <a:r>
              <a:rPr lang="en" sz="1600">
                <a:solidFill>
                  <a:schemeClr val="dk1"/>
                </a:solidFill>
              </a:rPr>
              <a:t> NCR shows a consumption‑driven pattern, while Eastern Visayas reflects restrained spending and higher savings margins. </a:t>
            </a:r>
            <a:r>
              <a:rPr b="1" lang="en" sz="1600" u="sng">
                <a:solidFill>
                  <a:schemeClr val="dk1"/>
                </a:solidFill>
              </a:rPr>
              <a:t>Both regions show positive correlation between income and expenditure, but urban households exhibit a stronger consumption link, while rural households show a weaker, more restrained correlation.</a:t>
            </a:r>
            <a:endParaRPr b="1" sz="1600" u="sng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rPr b="1" lang="en" sz="2200">
                <a:solidFill>
                  <a:srgbClr val="000000"/>
                </a:solidFill>
              </a:rPr>
              <a:t>1. </a:t>
            </a:r>
            <a:r>
              <a:rPr b="1" lang="en" sz="2200">
                <a:solidFill>
                  <a:srgbClr val="0B5394"/>
                </a:solidFill>
              </a:rPr>
              <a:t>Urban</a:t>
            </a:r>
            <a:r>
              <a:rPr b="1" lang="en" sz="2200"/>
              <a:t> vs. </a:t>
            </a:r>
            <a:r>
              <a:rPr b="1" lang="en" sz="2200">
                <a:solidFill>
                  <a:srgbClr val="38761D"/>
                </a:solidFill>
              </a:rPr>
              <a:t>Rural</a:t>
            </a:r>
            <a:r>
              <a:rPr b="1" lang="en" sz="2200">
                <a:solidFill>
                  <a:srgbClr val="000000"/>
                </a:solidFill>
              </a:rPr>
              <a:t> Differences (Other Regions)</a:t>
            </a:r>
            <a:endParaRPr b="1" sz="22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grpSp>
        <p:nvGrpSpPr>
          <p:cNvPr id="107" name="Google Shape;107;p19"/>
          <p:cNvGrpSpPr/>
          <p:nvPr/>
        </p:nvGrpSpPr>
        <p:grpSpPr>
          <a:xfrm>
            <a:off x="235771" y="2670450"/>
            <a:ext cx="8672450" cy="2241600"/>
            <a:chOff x="311696" y="2670450"/>
            <a:chExt cx="8672450" cy="2241600"/>
          </a:xfrm>
        </p:grpSpPr>
        <p:sp>
          <p:nvSpPr>
            <p:cNvPr id="108" name="Google Shape;108;p19"/>
            <p:cNvSpPr txBox="1"/>
            <p:nvPr/>
          </p:nvSpPr>
          <p:spPr>
            <a:xfrm>
              <a:off x="311696" y="2670450"/>
              <a:ext cx="4277100" cy="224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B5394"/>
                  </a:solidFill>
                </a:rPr>
                <a:t>VII Central Visayas (Urban)</a:t>
              </a:r>
              <a:r>
                <a:rPr b="1" lang="en" sz="900">
                  <a:solidFill>
                    <a:schemeClr val="dk1"/>
                  </a:solidFill>
                </a:rPr>
                <a:t> vs </a:t>
              </a:r>
              <a:r>
                <a:rPr b="1" lang="en" sz="900">
                  <a:solidFill>
                    <a:srgbClr val="38761D"/>
                  </a:solidFill>
                </a:rPr>
                <a:t>CARAGA (Rural)</a:t>
              </a:r>
              <a:endParaRPr b="1" sz="900">
                <a:solidFill>
                  <a:srgbClr val="38761D"/>
                </a:solidFill>
              </a:endParaRPr>
            </a:p>
            <a:p>
              <a:pPr indent="-114300" lvl="0" marL="57150" rtl="0" algn="just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Urban Central Visayas</a:t>
              </a:r>
              <a:r>
                <a:rPr lang="en" sz="900">
                  <a:solidFill>
                    <a:schemeClr val="dk1"/>
                  </a:solidFill>
                </a:rPr>
                <a:t>: More consumption‑driven at the bottom, but higher brackets save progressively more. 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5715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Rural Caraga</a:t>
              </a:r>
              <a:r>
                <a:rPr lang="en" sz="900">
                  <a:solidFill>
                    <a:schemeClr val="dk1"/>
                  </a:solidFill>
                </a:rPr>
                <a:t>: Low-income households overspend slightly, but middle and upper brackets are consistently restrained, with much larger savings margins.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5715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Savings potential</a:t>
              </a:r>
              <a:r>
                <a:rPr lang="en" sz="900">
                  <a:solidFill>
                    <a:schemeClr val="dk1"/>
                  </a:solidFill>
                </a:rPr>
                <a:t>: CARAGA households (especially upper brackets) save more relative to income compared to their Central Visayas counterparts.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5715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Correlation slope</a:t>
              </a:r>
              <a:r>
                <a:rPr lang="en" sz="900">
                  <a:solidFill>
                    <a:schemeClr val="dk1"/>
                  </a:solidFill>
                </a:rPr>
                <a:t>: </a:t>
              </a:r>
              <a:r>
                <a:rPr b="1" lang="en" sz="900" u="sng">
                  <a:solidFill>
                    <a:schemeClr val="dk1"/>
                  </a:solidFill>
                </a:rPr>
                <a:t>Urban households shows a stronger positive correlation between income and expenditure, while Rural households shows a flatter correlation — spending grows slower relative to income.</a:t>
              </a:r>
              <a:endParaRPr b="1" sz="900" u="sng">
                <a:solidFill>
                  <a:schemeClr val="dk1"/>
                </a:solidFill>
              </a:endParaRPr>
            </a:p>
            <a:p>
              <a:pPr indent="-57150" lvl="0" marL="57150" rtl="0" algn="just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900">
                <a:solidFill>
                  <a:schemeClr val="dk1"/>
                </a:solidFill>
              </a:endParaRPr>
            </a:p>
          </p:txBody>
        </p:sp>
        <p:sp>
          <p:nvSpPr>
            <p:cNvPr id="109" name="Google Shape;109;p19"/>
            <p:cNvSpPr txBox="1"/>
            <p:nvPr/>
          </p:nvSpPr>
          <p:spPr>
            <a:xfrm>
              <a:off x="4707046" y="2670450"/>
              <a:ext cx="4277100" cy="224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B5394"/>
                  </a:solidFill>
                </a:rPr>
                <a:t>XI Davao Region (Urban) </a:t>
              </a:r>
              <a:r>
                <a:rPr b="1" lang="en" sz="900">
                  <a:solidFill>
                    <a:schemeClr val="dk1"/>
                  </a:solidFill>
                </a:rPr>
                <a:t>vs </a:t>
              </a:r>
              <a:r>
                <a:rPr b="1" lang="en" sz="900">
                  <a:solidFill>
                    <a:srgbClr val="38761D"/>
                  </a:solidFill>
                </a:rPr>
                <a:t>CAR (Rural)</a:t>
              </a:r>
              <a:endParaRPr b="1" sz="900">
                <a:solidFill>
                  <a:srgbClr val="38761D"/>
                </a:solidFill>
              </a:endParaRPr>
            </a:p>
            <a:p>
              <a:pPr indent="-114300" lvl="0" marL="114300" rtl="0" algn="just">
                <a:lnSpc>
                  <a:spcPct val="115000"/>
                </a:lnSpc>
                <a:spcBef>
                  <a:spcPts val="120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CAR is richer than Davao Region in terms of reported household income at the top bracket.</a:t>
              </a:r>
              <a:r>
                <a:rPr lang="en" sz="900">
                  <a:solidFill>
                    <a:schemeClr val="dk1"/>
                  </a:solidFill>
                </a:rPr>
                <a:t> 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11430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lang="en" sz="900">
                  <a:solidFill>
                    <a:schemeClr val="dk1"/>
                  </a:solidFill>
                </a:rPr>
                <a:t>However, </a:t>
              </a:r>
              <a:r>
                <a:rPr b="1" lang="en" sz="900">
                  <a:solidFill>
                    <a:schemeClr val="dk1"/>
                  </a:solidFill>
                </a:rPr>
                <a:t>Davao’s rich spend more in absolute terms</a:t>
              </a:r>
              <a:r>
                <a:rPr lang="en" sz="900">
                  <a:solidFill>
                    <a:schemeClr val="dk1"/>
                  </a:solidFill>
                </a:rPr>
                <a:t> (₱1.42M vs ₱737k), reflecting stronger consumption intensity.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11430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lang="en" sz="900">
                  <a:solidFill>
                    <a:schemeClr val="dk1"/>
                  </a:solidFill>
                </a:rPr>
                <a:t>CAR’s wealthy households appear to save or under‑consume relative to their income, while Davao’s wealthy households spend more visibly.</a:t>
              </a:r>
              <a:endParaRPr sz="900">
                <a:solidFill>
                  <a:schemeClr val="dk1"/>
                </a:solidFill>
              </a:endParaRPr>
            </a:p>
            <a:p>
              <a:pPr indent="-114300" lvl="0" marL="11430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00"/>
                <a:buChar char="●"/>
              </a:pPr>
              <a:r>
                <a:rPr b="1" lang="en" sz="900">
                  <a:solidFill>
                    <a:schemeClr val="dk1"/>
                  </a:solidFill>
                </a:rPr>
                <a:t>Correlation slope</a:t>
              </a:r>
              <a:r>
                <a:rPr lang="en" sz="900">
                  <a:solidFill>
                    <a:schemeClr val="dk1"/>
                  </a:solidFill>
                </a:rPr>
                <a:t>: </a:t>
              </a:r>
              <a:r>
                <a:rPr b="1" lang="en" sz="900" u="sng">
                  <a:solidFill>
                    <a:schemeClr val="dk1"/>
                  </a:solidFill>
                </a:rPr>
                <a:t>Urban households shows a stronger positive correlation between income and expenditure, while Rural households shows a weaker, flatter correlation — especially at the top.</a:t>
              </a:r>
              <a:endParaRPr b="1" sz="900" u="sng">
                <a:solidFill>
                  <a:schemeClr val="dk1"/>
                </a:solidFill>
              </a:endParaRPr>
            </a:p>
            <a:p>
              <a:pPr indent="-57150" lvl="0" marL="57150" rtl="0" algn="just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900">
                <a:solidFill>
                  <a:schemeClr val="dk1"/>
                </a:solidFill>
              </a:endParaRPr>
            </a:p>
          </p:txBody>
        </p:sp>
      </p:grpSp>
      <p:grpSp>
        <p:nvGrpSpPr>
          <p:cNvPr id="110" name="Google Shape;110;p19"/>
          <p:cNvGrpSpPr/>
          <p:nvPr/>
        </p:nvGrpSpPr>
        <p:grpSpPr>
          <a:xfrm>
            <a:off x="311700" y="981180"/>
            <a:ext cx="8520600" cy="1689274"/>
            <a:chOff x="311700" y="981180"/>
            <a:chExt cx="8520600" cy="1689274"/>
          </a:xfrm>
        </p:grpSpPr>
        <p:pic>
          <p:nvPicPr>
            <p:cNvPr id="111" name="Google Shape;11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11700" y="981209"/>
              <a:ext cx="2138481" cy="168924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2" name="Google Shape;11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450199" y="981198"/>
              <a:ext cx="2138481" cy="168925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88709" y="981209"/>
              <a:ext cx="2105067" cy="168924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4" name="Google Shape;114;p1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727220" y="981209"/>
              <a:ext cx="2105061" cy="168924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9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2450200" y="981192"/>
              <a:ext cx="2138479" cy="16892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9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6727224" y="981180"/>
              <a:ext cx="2105075" cy="168926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Overall Insights</a:t>
            </a:r>
            <a:r>
              <a:rPr b="1" lang="en" sz="2200"/>
              <a:t>:</a:t>
            </a:r>
            <a:endParaRPr b="1" sz="2200"/>
          </a:p>
        </p:txBody>
      </p:sp>
      <p:sp>
        <p:nvSpPr>
          <p:cNvPr id="122" name="Google Shape;122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How do household incomes and expenditures differ between urban and rural households? </a:t>
            </a:r>
            <a:endParaRPr b="1" sz="1300">
              <a:solidFill>
                <a:schemeClr val="dk1"/>
              </a:solidFill>
            </a:endParaRPr>
          </a:p>
          <a:p>
            <a:pPr indent="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B5394"/>
                </a:solidFill>
              </a:rPr>
              <a:t>Urban Regions</a:t>
            </a:r>
            <a:endParaRPr b="1" sz="1300">
              <a:solidFill>
                <a:srgbClr val="0B5394"/>
              </a:solidFill>
            </a:endParaRPr>
          </a:p>
          <a:p>
            <a:pPr indent="-31115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Pattern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b="1" lang="en" sz="1300">
                <a:solidFill>
                  <a:schemeClr val="dk1"/>
                </a:solidFill>
              </a:rPr>
              <a:t>More consumption‑driven.</a:t>
            </a:r>
            <a:r>
              <a:rPr lang="en" sz="1300">
                <a:solidFill>
                  <a:schemeClr val="dk1"/>
                </a:solidFill>
              </a:rPr>
              <a:t> Low-income households overspend or break even; middle brackets balance; rich households save but still spend heavily in absolute terms.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Correlation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b="1" lang="en" sz="1300">
                <a:solidFill>
                  <a:schemeClr val="dk1"/>
                </a:solidFill>
              </a:rPr>
              <a:t>Strong positive correlation</a:t>
            </a:r>
            <a:r>
              <a:rPr lang="en" sz="1300">
                <a:solidFill>
                  <a:schemeClr val="dk1"/>
                </a:solidFill>
              </a:rPr>
              <a:t> between income and expenditure. The slope is steeper — expenditure rises quickly with income, especially at lower brackets, then flattens at the top as savings grow.</a:t>
            </a:r>
            <a:endParaRPr sz="1300">
              <a:solidFill>
                <a:schemeClr val="dk1"/>
              </a:solidFill>
            </a:endParaRPr>
          </a:p>
          <a:p>
            <a:pPr indent="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38761D"/>
                </a:solidFill>
              </a:rPr>
              <a:t>Rural Regions</a:t>
            </a:r>
            <a:endParaRPr b="1" sz="1300">
              <a:solidFill>
                <a:srgbClr val="38761D"/>
              </a:solidFill>
            </a:endParaRPr>
          </a:p>
          <a:p>
            <a:pPr indent="-31115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Pattern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b="1" lang="en" sz="1300">
                <a:solidFill>
                  <a:schemeClr val="dk1"/>
                </a:solidFill>
              </a:rPr>
              <a:t>More restrained.</a:t>
            </a:r>
            <a:r>
              <a:rPr lang="en" sz="1300">
                <a:solidFill>
                  <a:schemeClr val="dk1"/>
                </a:solidFill>
              </a:rPr>
              <a:t> Low-income households sometimes overspend, but middle and upper brackets consistently spend less than income. Rich households spend a much smaller fraction of their income compared to urban counterparts.</a:t>
            </a:r>
            <a:endParaRPr sz="1300">
              <a:solidFill>
                <a:schemeClr val="dk1"/>
              </a:solidFill>
            </a:endParaRPr>
          </a:p>
          <a:p>
            <a:pPr indent="-311150" lvl="0" marL="45720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300">
                <a:solidFill>
                  <a:schemeClr val="dk1"/>
                </a:solidFill>
              </a:rPr>
              <a:t>Correlation</a:t>
            </a:r>
            <a:r>
              <a:rPr lang="en" sz="1300">
                <a:solidFill>
                  <a:schemeClr val="dk1"/>
                </a:solidFill>
              </a:rPr>
              <a:t>: </a:t>
            </a:r>
            <a:r>
              <a:rPr b="1" lang="en" sz="1300">
                <a:solidFill>
                  <a:schemeClr val="dk1"/>
                </a:solidFill>
              </a:rPr>
              <a:t>Positive correlation but weaker/flatter slope</a:t>
            </a:r>
            <a:r>
              <a:rPr lang="en" sz="1300">
                <a:solidFill>
                  <a:schemeClr val="dk1"/>
                </a:solidFill>
              </a:rPr>
              <a:t>. Expenditure grows more slowly relative to income, especially at higher brackets. Points cluster below the “income = expenditure” line, showing stronger savings margins.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(Table):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28" name="Google Shape;128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#Urban - NCR (Average)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#Define bins and labels (based on 'Income Brackets’)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bins = 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132_000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264_000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528_000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924_000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1_572_000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2_628_000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4EC9B0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float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'inf'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)]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labels = 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'Poor'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'Low Income'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'Lower Middle'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'Middle Income'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'Upper Middle'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'Upper Middle not Rich'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'Rich'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#Filter dataset for Region only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urban_df = df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==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'NCR'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#&lt;-direct equality filter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#Create Income Bracket column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urban_df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= pd.cut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urban_df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bins=bins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labels=labels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#Group and calculate averages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summary_df = 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urban_df.groupby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)[[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'Total Expenditure'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]]</a:t>
            </a: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#&lt;-grouping (index) and [dataframe]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      .mean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      .</a:t>
            </a:r>
            <a:r>
              <a:rPr lang="en" sz="800">
                <a:solidFill>
                  <a:srgbClr val="DCDCAA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      .reset_index</a:t>
            </a: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80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#&lt;-reorganizes dataframe after grouping/filtering data</a:t>
            </a:r>
            <a:endParaRPr sz="80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summary_df</a:t>
            </a:r>
            <a:endParaRPr sz="80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7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aphicFrame>
        <p:nvGraphicFramePr>
          <p:cNvPr id="129" name="Google Shape;129;p21"/>
          <p:cNvGraphicFramePr/>
          <p:nvPr/>
        </p:nvGraphicFramePr>
        <p:xfrm>
          <a:off x="5522138" y="44502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402225"/>
                <a:gridCol w="1039250"/>
                <a:gridCol w="1063450"/>
                <a:gridCol w="805225"/>
              </a:tblGrid>
              <a:tr h="394600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Income Bracket</a:t>
                      </a:r>
                      <a:endParaRPr b="1" sz="750"/>
                    </a:p>
                  </a:txBody>
                  <a:tcPr marT="66675" marB="66675" marR="66675" marL="66675"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FFFFF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Annual Household Income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Total Expenditure</a:t>
                      </a:r>
                      <a:endParaRPr b="1" sz="750"/>
                    </a:p>
                  </a:txBody>
                  <a:tcPr marT="66675" marB="66675" marR="66675" marL="6667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0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Poor</a:t>
                      </a:r>
                      <a:endParaRPr sz="750"/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102868.52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132141.08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 Income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198776.17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226004.41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Lower Middle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371226.56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>
                          <a:solidFill>
                            <a:srgbClr val="CC0000"/>
                          </a:solidFill>
                        </a:rPr>
                        <a:t>372991.53</a:t>
                      </a:r>
                      <a:endParaRPr b="1" sz="7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Middle Income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685871.06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637947.56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4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1141796.34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969129.13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  <a:tr h="2578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5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Upper Middle not Rich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2024821.18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1506951.32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  <a:tr h="6559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6</a:t>
                      </a:r>
                      <a:endParaRPr b="1" sz="750"/>
                    </a:p>
                  </a:txBody>
                  <a:tcPr marT="66675" marB="66675" marR="66675" marL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50"/>
                        <a:t>Rich</a:t>
                      </a:r>
                      <a:endParaRPr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3485836.88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750"/>
                        <a:t>2466226.76</a:t>
                      </a:r>
                      <a:endParaRPr b="1" sz="750"/>
                    </a:p>
                  </a:txBody>
                  <a:tcPr marT="66675" marB="66675" marR="66675" marL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#Urban - NCR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urban_df = df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== 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'NCR'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#Scatter plot of raw values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#plt.scatter(x,y)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#x = Annual Household Income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#y = Total Expenditure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plt.scatter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urban_df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urban_df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Expenditure'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alpha=</a:t>
            </a:r>
            <a:r>
              <a:rPr lang="en" sz="105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0.6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105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#alpha makes overlapping points more visible (transparency setting)</a:t>
            </a:r>
            <a:endParaRPr sz="10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Expenditure'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'Urban - NCR'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5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5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b="1" sz="2100">
              <a:solidFill>
                <a:schemeClr val="dk1"/>
              </a:solidFill>
            </a:endParaRPr>
          </a:p>
        </p:txBody>
      </p:sp>
      <p:pic>
        <p:nvPicPr>
          <p:cNvPr id="136" name="Google Shape;136;p22" title="01a_UrbanIncomeExpenditur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22146" y="445025"/>
            <a:ext cx="3310150" cy="271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48374"/>
            <a:ext cx="8520600" cy="304675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000"/>
              <a:buFont typeface="Arial"/>
              <a:buNone/>
            </a:pPr>
            <a:r>
              <a:rPr b="1" lang="en" sz="2200"/>
              <a:t>2. Impact of Education on Income</a:t>
            </a:r>
            <a:endParaRPr b="1" sz="2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ct val="45000"/>
              <a:buNone/>
            </a:pPr>
            <a:r>
              <a:t/>
            </a:r>
            <a:endParaRPr b="1"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Insights:</a:t>
            </a:r>
            <a:endParaRPr b="1" sz="2200"/>
          </a:p>
        </p:txBody>
      </p:sp>
      <p:sp>
        <p:nvSpPr>
          <p:cNvPr id="148" name="Google Shape;148;p24"/>
          <p:cNvSpPr txBox="1"/>
          <p:nvPr>
            <p:ph idx="1" type="body"/>
          </p:nvPr>
        </p:nvSpPr>
        <p:spPr>
          <a:xfrm>
            <a:off x="311700" y="1152486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Do household heads with higher education levels earn more?</a:t>
            </a:r>
            <a:endParaRPr b="1">
              <a:solidFill>
                <a:schemeClr val="dk1"/>
              </a:solidFill>
            </a:endParaRPr>
          </a:p>
          <a:p>
            <a:pPr indent="11430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-171450" lvl="0" marL="3429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Household heads with </a:t>
            </a:r>
            <a:r>
              <a:rPr b="1" lang="en">
                <a:solidFill>
                  <a:schemeClr val="dk1"/>
                </a:solidFill>
              </a:rPr>
              <a:t>higher education levels tend to earn higher average monthly income.</a:t>
            </a:r>
            <a:br>
              <a:rPr b="1" lang="en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indent="-17145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Those with </a:t>
            </a:r>
            <a:r>
              <a:rPr b="1" lang="en">
                <a:solidFill>
                  <a:schemeClr val="dk1"/>
                </a:solidFill>
              </a:rPr>
              <a:t>no grade completed or lower education levels earn significantly less.</a:t>
            </a:r>
            <a:br>
              <a:rPr b="1" lang="en">
                <a:solidFill>
                  <a:schemeClr val="dk1"/>
                </a:solidFill>
              </a:rPr>
            </a:br>
            <a:endParaRPr b="1">
              <a:solidFill>
                <a:schemeClr val="dk1"/>
              </a:solidFill>
            </a:endParaRPr>
          </a:p>
          <a:p>
            <a:pPr indent="-17145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b="1" lang="en">
                <a:solidFill>
                  <a:schemeClr val="dk1"/>
                </a:solidFill>
              </a:rPr>
              <a:t>Education is strongly linked</a:t>
            </a:r>
            <a:r>
              <a:rPr lang="en">
                <a:solidFill>
                  <a:schemeClr val="dk1"/>
                </a:solidFill>
              </a:rPr>
              <a:t> to better income opportunities.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54" name="Google Shape;15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#Top 5 Average Monthly Income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top5_high = 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"Monthly Income"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by=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.head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top5_high_mean_income = 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.isin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top5_high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])]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.groupby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.mean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</a:t>
            </a:r>
            <a:r>
              <a:rPr lang="en" sz="8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#Bottom 5 Average Monthly Income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bottom5 = 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"Monthly Income"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by=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.tail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bottom5_low_mean_income = 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.isin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bottom5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])]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.groupby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Highest Grade Completed'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.mean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\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.</a:t>
            </a:r>
            <a:r>
              <a:rPr lang="en" sz="8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high = top5_high_mean_income.sort_values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top 5 highest incomes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low = bottom5_low_mean_income.sort_values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bottom 5 lowest incomes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60" name="Google Shape;160;p26"/>
          <p:cNvSpPr txBox="1"/>
          <p:nvPr>
            <p:ph idx="1" type="body"/>
          </p:nvPr>
        </p:nvSpPr>
        <p:spPr>
          <a:xfrm>
            <a:off x="311700" y="90233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high = top5_high_mean_income.sort_values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top 5 highest incomes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low = bottom5_low_mean_income.sort_values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ascending=</a:t>
            </a:r>
            <a:r>
              <a:rPr lang="en" sz="8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bottom 5 lowest incomes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#Combine labels (all unique grade levels from high and low)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labels = 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high.index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 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low.index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#Combine values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values_high = high.values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values_low = low.values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#Create figure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fig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ax = plt.subplots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16.6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#Horizontal positions for bars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y_high = np.arange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len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values_high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y_low = np.arange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len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values_low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 </a:t>
            </a:r>
            <a:r>
              <a:rPr lang="en" sz="8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len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values_high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 </a:t>
            </a:r>
            <a:r>
              <a:rPr lang="en" sz="8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add space between high and low groups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#Plot bars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ax.barh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values_high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color=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'green'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'Top 4 Average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ax.barh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y_low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values_low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color=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'gray'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label=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'Bottom 4 Average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66" name="Google Shape;166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#Set y-ticks and labels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ax.set_yticks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y_high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 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y_low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ax.set_yticklabels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high.index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 </a:t>
            </a:r>
            <a:r>
              <a:rPr lang="en" sz="8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low.index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#Labels and title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ax.set_xlabel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Monthly Income'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ax.set_title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8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'Top 4 vs Bottom 4 Education Levels and Average Monthly Incomes'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#Invert y axis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ax.invert_yaxis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#Legend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ax.legend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#Layout</a:t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plt.tight_layout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8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8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8"/>
          <p:cNvSpPr txBox="1"/>
          <p:nvPr>
            <p:ph type="title"/>
          </p:nvPr>
        </p:nvSpPr>
        <p:spPr>
          <a:xfrm>
            <a:off x="311700" y="0"/>
            <a:ext cx="8562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3. Household Size and Spending</a:t>
            </a:r>
            <a:endParaRPr b="1" sz="2200"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449" y="424125"/>
            <a:ext cx="5548551" cy="24022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8"/>
          <p:cNvSpPr txBox="1"/>
          <p:nvPr/>
        </p:nvSpPr>
        <p:spPr>
          <a:xfrm>
            <a:off x="5874722" y="920382"/>
            <a:ext cx="3000000" cy="18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</a:rPr>
              <a:t>Insights: (Bar Graph)</a:t>
            </a:r>
            <a:endParaRPr b="1" sz="900">
              <a:solidFill>
                <a:schemeClr val="dk1"/>
              </a:solidFill>
            </a:endParaRPr>
          </a:p>
          <a:p>
            <a:pPr indent="-114300" lvl="0" marL="1143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Large families tend to spend more on both food and education</a:t>
            </a:r>
            <a:r>
              <a:rPr lang="en" sz="900">
                <a:solidFill>
                  <a:schemeClr val="dk1"/>
                </a:solidFill>
              </a:rPr>
              <a:t> compared to small and medium families, because more household members require additional resources such as meals and educational support.</a:t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While education spending also rises with family size, the increase is relatively moderate compared to food spending, indicating that </a:t>
            </a:r>
            <a:r>
              <a:rPr b="1" lang="en" sz="900">
                <a:solidFill>
                  <a:schemeClr val="dk1"/>
                </a:solidFill>
              </a:rPr>
              <a:t>education expenses may depend on the number of school-aged members rather than total household size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174" name="Google Shape;174;p28"/>
          <p:cNvSpPr txBox="1"/>
          <p:nvPr/>
        </p:nvSpPr>
        <p:spPr>
          <a:xfrm>
            <a:off x="5874725" y="424125"/>
            <a:ext cx="3000000" cy="4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Do larger families spend more on food or education?</a:t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688" y="2854775"/>
            <a:ext cx="2624063" cy="210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746" y="2854782"/>
            <a:ext cx="2744173" cy="2102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8"/>
          <p:cNvSpPr txBox="1"/>
          <p:nvPr/>
        </p:nvSpPr>
        <p:spPr>
          <a:xfrm>
            <a:off x="5874725" y="2789300"/>
            <a:ext cx="3000000" cy="21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</a:rPr>
              <a:t>Insights: (Regression plot)</a:t>
            </a:r>
            <a:br>
              <a:rPr b="1" lang="en" sz="900">
                <a:solidFill>
                  <a:schemeClr val="dk1"/>
                </a:solidFill>
              </a:rPr>
            </a:br>
            <a:endParaRPr b="1"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Ratios</a:t>
            </a:r>
            <a:r>
              <a:rPr lang="en" sz="900">
                <a:solidFill>
                  <a:schemeClr val="dk1"/>
                </a:solidFill>
              </a:rPr>
              <a:t> are used to </a:t>
            </a:r>
            <a:r>
              <a:rPr b="1" lang="en" sz="900">
                <a:solidFill>
                  <a:schemeClr val="dk1"/>
                </a:solidFill>
              </a:rPr>
              <a:t>reduce the bias caused by differences in household income levels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The proportion of income allocated to food and education expenses </a:t>
            </a:r>
            <a:r>
              <a:rPr b="1" lang="en" sz="900">
                <a:solidFill>
                  <a:schemeClr val="dk1"/>
                </a:solidFill>
              </a:rPr>
              <a:t>does not increase significantly</a:t>
            </a:r>
            <a:r>
              <a:rPr lang="en" sz="900">
                <a:solidFill>
                  <a:schemeClr val="dk1"/>
                </a:solidFill>
              </a:rPr>
              <a:t> as family size grows. In general, the correlation is </a:t>
            </a:r>
            <a:r>
              <a:rPr b="1" lang="en" sz="900">
                <a:solidFill>
                  <a:schemeClr val="dk1"/>
                </a:solidFill>
              </a:rPr>
              <a:t>weak.</a:t>
            </a:r>
            <a:endParaRPr b="1"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Large family spends more money overall but the </a:t>
            </a:r>
            <a:r>
              <a:rPr b="1" lang="en" sz="900">
                <a:solidFill>
                  <a:schemeClr val="dk1"/>
                </a:solidFill>
              </a:rPr>
              <a:t>percentage of income spent does not increase as much due to the fact that expenses can be shared</a:t>
            </a:r>
            <a:r>
              <a:rPr lang="en" sz="900">
                <a:solidFill>
                  <a:schemeClr val="dk1"/>
                </a:solidFill>
              </a:rPr>
              <a:t> among household members. </a:t>
            </a:r>
            <a:endParaRPr sz="900">
              <a:solidFill>
                <a:schemeClr val="dk1"/>
              </a:solidFill>
            </a:endParaRPr>
          </a:p>
          <a:p>
            <a:pPr indent="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260100" y="309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(Modifying &amp; Column Creation):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346025" y="727703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#categorizing family size into small, medium, large. Category was based on Researchgate.com literature.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 = pd.cut(df[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Number of Family members'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], bins= 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30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],labels =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'Small'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'Medium'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'Large'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])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 It's for Numerical Values Only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(df.groupby(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Food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].mean())/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12</a:t>
            </a:r>
            <a:endParaRPr sz="1050">
              <a:solidFill>
                <a:srgbClr val="1166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(df.groupby(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].mean())/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12</a:t>
            </a:r>
            <a:endParaRPr sz="1050">
              <a:solidFill>
                <a:srgbClr val="1166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84" name="Google Shape;184;p29" title="Screenshot 2026-03-11 193226.png"/>
          <p:cNvPicPr preferRelativeResize="0"/>
          <p:nvPr/>
        </p:nvPicPr>
        <p:blipFill rotWithShape="1">
          <a:blip r:embed="rId3">
            <a:alphaModFix/>
          </a:blip>
          <a:srcRect b="0" l="1988" r="1988" t="0"/>
          <a:stretch/>
        </p:blipFill>
        <p:spPr>
          <a:xfrm>
            <a:off x="1609200" y="1958301"/>
            <a:ext cx="2257499" cy="122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9"/>
          <p:cNvPicPr preferRelativeResize="0"/>
          <p:nvPr/>
        </p:nvPicPr>
        <p:blipFill rotWithShape="1">
          <a:blip r:embed="rId4">
            <a:alphaModFix/>
          </a:blip>
          <a:srcRect b="0" l="-3710" r="3710" t="0"/>
          <a:stretch/>
        </p:blipFill>
        <p:spPr>
          <a:xfrm>
            <a:off x="1609195" y="3589011"/>
            <a:ext cx="2257500" cy="12091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0"/>
          <p:cNvSpPr txBox="1"/>
          <p:nvPr>
            <p:ph type="title"/>
          </p:nvPr>
        </p:nvSpPr>
        <p:spPr>
          <a:xfrm>
            <a:off x="260100" y="309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(Bar 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91" name="Google Shape;191;p30"/>
          <p:cNvSpPr txBox="1"/>
          <p:nvPr>
            <p:ph idx="1" type="body"/>
          </p:nvPr>
        </p:nvSpPr>
        <p:spPr>
          <a:xfrm>
            <a:off x="260100" y="882575"/>
            <a:ext cx="8623800" cy="39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 Provide Filter for food and education expense for monthly basis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filt_food = 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Food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]/12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filt_edu = 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]/12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#Subplot is used to display multiple graph in one figure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fig, axes = plt.subplots(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figsize=(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12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#parameters inside subplot were the row(1) and column (2).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#Uses Seaborn lib to plot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sns.barplot(data=df, x=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 y= filt_food, ax=axes[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].set_ylabel(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'Monthly Food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].set_xlabel(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].set_title(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'Average Monthly Food Expenditure by Family Size'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sns.barplot(data=df, x=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, y=filt_edu, ax=axes[1])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].set_ylabel(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'Monthly Education Expenditure'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].set_xlabel(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'Family Size Category'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axes[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].set_title(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'Average Monthly Education Expenditure by Family Size'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plt.show()</a:t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1"/>
          <p:cNvSpPr txBox="1"/>
          <p:nvPr>
            <p:ph type="title"/>
          </p:nvPr>
        </p:nvSpPr>
        <p:spPr>
          <a:xfrm>
            <a:off x="260100" y="3098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(Scatter Plot):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197" name="Google Shape;197;p31"/>
          <p:cNvSpPr txBox="1"/>
          <p:nvPr>
            <p:ph idx="1" type="body"/>
          </p:nvPr>
        </p:nvSpPr>
        <p:spPr>
          <a:xfrm>
            <a:off x="260100" y="882575"/>
            <a:ext cx="8623800" cy="39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 Created new column for expense ratio.</a:t>
            </a:r>
            <a:endParaRPr sz="1050">
              <a:solidFill>
                <a:srgbClr val="0080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'food expense ratio'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 = ((df[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Food Expenditure'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]/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12</a:t>
            </a:r>
            <a:r>
              <a:rPr lang="en" sz="105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)/(df[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])).</a:t>
            </a:r>
            <a:r>
              <a:rPr lang="en" sz="105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expense ratio'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 = ((df[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Expenditure'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]/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12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)/(df[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'Monthly Income'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])).</a:t>
            </a:r>
            <a:r>
              <a:rPr lang="en" sz="1050">
                <a:solidFill>
                  <a:schemeClr val="accent6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116644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008000"/>
                </a:solidFill>
                <a:latin typeface="Courier New"/>
                <a:ea typeface="Courier New"/>
                <a:cs typeface="Courier New"/>
                <a:sym typeface="Courier New"/>
              </a:rPr>
              <a:t># Visualizing data using regression plot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sns.regplot(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    data=df,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x=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Number of Family members'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y=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'food expense ratio'</a:t>
            </a:r>
            <a:endParaRPr sz="1050">
              <a:solidFill>
                <a:schemeClr val="accent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plt.title(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"Correlation Between Household Size and Food Expense Ratio"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plt.show()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t/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sns.regplot(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    data=df,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    x=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'Total Number of Family members'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    y=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expense ratio'</a:t>
            </a:r>
            <a:endParaRPr sz="1050">
              <a:solidFill>
                <a:schemeClr val="accent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plt.title(</a:t>
            </a:r>
            <a:r>
              <a:rPr lang="en" sz="1050">
                <a:solidFill>
                  <a:schemeClr val="accent4"/>
                </a:solidFill>
                <a:latin typeface="Courier New"/>
                <a:ea typeface="Courier New"/>
                <a:cs typeface="Courier New"/>
                <a:sym typeface="Courier New"/>
              </a:rPr>
              <a:t>"Correlation Between Household Size and Education Expense Ratio"</a:t>
            </a: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4762"/>
              <a:buFont typeface="Arial"/>
              <a:buNone/>
            </a:pPr>
            <a:r>
              <a:rPr lang="en" sz="10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plt.show()</a:t>
            </a:r>
            <a:endParaRPr sz="10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4. Gender Differences in Household Economics (Countrywide)</a:t>
            </a:r>
            <a:endParaRPr b="1" sz="2200"/>
          </a:p>
        </p:txBody>
      </p:sp>
      <p:pic>
        <p:nvPicPr>
          <p:cNvPr id="203" name="Google Shape;203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1700" y="1017725"/>
            <a:ext cx="5520600" cy="3604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32"/>
          <p:cNvSpPr txBox="1"/>
          <p:nvPr/>
        </p:nvSpPr>
        <p:spPr>
          <a:xfrm>
            <a:off x="311700" y="1650425"/>
            <a:ext cx="3000000" cy="33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</a:rPr>
              <a:t>Insights:</a:t>
            </a:r>
            <a:endParaRPr b="1"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Female-headed households</a:t>
            </a:r>
            <a:r>
              <a:rPr lang="en" sz="900">
                <a:solidFill>
                  <a:schemeClr val="dk1"/>
                </a:solidFill>
              </a:rPr>
              <a:t> spend more on </a:t>
            </a:r>
            <a:r>
              <a:rPr b="1" lang="en" sz="900">
                <a:solidFill>
                  <a:schemeClr val="dk1"/>
                </a:solidFill>
              </a:rPr>
              <a:t>household and family need categories</a:t>
            </a:r>
            <a:r>
              <a:rPr lang="en" sz="900">
                <a:solidFill>
                  <a:schemeClr val="dk1"/>
                </a:solidFill>
              </a:rPr>
              <a:t> such as Housing and Water, Medical Care, Education, Special Occasions, and Communication expenditures.</a:t>
            </a:r>
            <a:endParaRPr sz="900">
              <a:solidFill>
                <a:schemeClr val="dk1"/>
              </a:solidFill>
            </a:endParaRPr>
          </a:p>
          <a:p>
            <a:pPr indent="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 </a:t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Male-headed households </a:t>
            </a:r>
            <a:r>
              <a:rPr lang="en" sz="900">
                <a:solidFill>
                  <a:schemeClr val="dk1"/>
                </a:solidFill>
              </a:rPr>
              <a:t>allocate more spending toward</a:t>
            </a:r>
            <a:r>
              <a:rPr b="1" lang="en" sz="900">
                <a:solidFill>
                  <a:schemeClr val="dk1"/>
                </a:solidFill>
              </a:rPr>
              <a:t> staple foods and agriculture expenses</a:t>
            </a:r>
            <a:r>
              <a:rPr lang="en" sz="900">
                <a:solidFill>
                  <a:schemeClr val="dk1"/>
                </a:solidFill>
              </a:rPr>
              <a:t>, such as rice, bread and cereals, and crop farming and gardening, along with </a:t>
            </a:r>
            <a:r>
              <a:rPr b="1" lang="en" sz="900">
                <a:solidFill>
                  <a:schemeClr val="dk1"/>
                </a:solidFill>
              </a:rPr>
              <a:t>higher spending on tobacco and alcoholic beverages</a:t>
            </a:r>
            <a:r>
              <a:rPr lang="en" sz="900">
                <a:solidFill>
                  <a:schemeClr val="dk1"/>
                </a:solidFill>
              </a:rPr>
              <a:t>, indicating greater focus on </a:t>
            </a:r>
            <a:r>
              <a:rPr b="1" lang="en" sz="900">
                <a:solidFill>
                  <a:schemeClr val="dk1"/>
                </a:solidFill>
              </a:rPr>
              <a:t>agricultural activities and personal consumption.</a:t>
            </a:r>
            <a:endParaRPr sz="900">
              <a:solidFill>
                <a:schemeClr val="dk1"/>
              </a:solidFill>
            </a:endParaRPr>
          </a:p>
          <a:p>
            <a:pPr indent="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Overall, </a:t>
            </a:r>
            <a:r>
              <a:rPr b="1" lang="en" sz="900">
                <a:solidFill>
                  <a:schemeClr val="dk1"/>
                </a:solidFill>
              </a:rPr>
              <a:t>both groups prioritize core necessities</a:t>
            </a:r>
            <a:r>
              <a:rPr lang="en" sz="900">
                <a:solidFill>
                  <a:schemeClr val="dk1"/>
                </a:solidFill>
              </a:rPr>
              <a:t> like housing and staple foods, but there is a slight </a:t>
            </a:r>
            <a:r>
              <a:rPr b="1" lang="en" sz="900">
                <a:solidFill>
                  <a:schemeClr val="dk1"/>
                </a:solidFill>
              </a:rPr>
              <a:t>difference in spending patterns </a:t>
            </a:r>
            <a:r>
              <a:rPr lang="en" sz="900">
                <a:solidFill>
                  <a:schemeClr val="dk1"/>
                </a:solidFill>
              </a:rPr>
              <a:t>between </a:t>
            </a:r>
            <a:r>
              <a:rPr b="1" lang="en" sz="900">
                <a:solidFill>
                  <a:schemeClr val="dk1"/>
                </a:solidFill>
              </a:rPr>
              <a:t>household welfare </a:t>
            </a:r>
            <a:r>
              <a:rPr lang="en" sz="900">
                <a:solidFill>
                  <a:schemeClr val="dk1"/>
                </a:solidFill>
              </a:rPr>
              <a:t>and </a:t>
            </a:r>
            <a:r>
              <a:rPr b="1" lang="en" sz="900">
                <a:solidFill>
                  <a:schemeClr val="dk1"/>
                </a:solidFill>
              </a:rPr>
              <a:t>agricultural or personal expenses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</p:txBody>
      </p:sp>
      <p:sp>
        <p:nvSpPr>
          <p:cNvPr id="205" name="Google Shape;205;p32"/>
          <p:cNvSpPr txBox="1"/>
          <p:nvPr/>
        </p:nvSpPr>
        <p:spPr>
          <a:xfrm>
            <a:off x="311700" y="1017725"/>
            <a:ext cx="3000000" cy="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Is there a difference in spending patterns based on the sex of the household head?</a:t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11" name="Google Shape;211;p33"/>
          <p:cNvSpPr txBox="1"/>
          <p:nvPr>
            <p:ph idx="1" type="body"/>
          </p:nvPr>
        </p:nvSpPr>
        <p:spPr>
          <a:xfrm>
            <a:off x="311700" y="1017725"/>
            <a:ext cx="8382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Defines all expenses within a household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exp_cols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'Bread and Cereals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Rice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'Meat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Fish and  marine products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'Fruit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'Vegetables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'Restaurant and hotels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'Alcoholic Beverages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'Tobacco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'Clothing, Footwear and Other Wear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'Housing and water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'Medical Care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'Transportation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'Communication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'Education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'Miscellaneous Goods and Services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'Special Occasions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'Crop Farming and Gardening expenses'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Groups data by household head sex and calculates mean spending.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.T (transpose) flips rows and columns so expenditure categories become rows.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avg_exp = df.groupby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'Household Head Sex'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exp_cols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.mean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.T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Creates a temporary average across Male and Female for each category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avg_exp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"Total"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= avg_exp.mean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axis=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Sorts categories from smallest to largest total spending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avg_exp = avg_exp.sort_values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"Total"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ascending=</a:t>
            </a:r>
            <a:r>
              <a:rPr lang="en" sz="9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Removes the temporary Total column after sorting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avg_exp = avg_exp.drop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columns=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"Total"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17" name="Google Shape;217;p34"/>
          <p:cNvSpPr txBox="1"/>
          <p:nvPr>
            <p:ph idx="1" type="body"/>
          </p:nvPr>
        </p:nvSpPr>
        <p:spPr>
          <a:xfrm>
            <a:off x="311700" y="1017725"/>
            <a:ext cx="8382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plt.figure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7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Turns category into values on y axis used later on to avoid overlap</a:t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 = </a:t>
            </a:r>
            <a:r>
              <a:rPr lang="en" sz="10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range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len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avg_exp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Creates female bar</a:t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plt.barh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y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avg_exp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'Female'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height=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0.4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'Female'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Shifts Male bars slightly so the two bars do not overlap</a:t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plt.barh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([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i+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0.4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C99CC6"/>
                </a:solidFill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i </a:t>
            </a:r>
            <a:r>
              <a:rPr lang="en" sz="1000">
                <a:solidFill>
                  <a:srgbClr val="82C6FF"/>
                </a:solidFill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y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avg_exp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'Male'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height=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0.4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'Male'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Places category in between the male and female bar</a:t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plt.yticks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([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i+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0.2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C99CC6"/>
                </a:solidFill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i </a:t>
            </a:r>
            <a:r>
              <a:rPr lang="en" sz="1000">
                <a:solidFill>
                  <a:srgbClr val="82C6FF"/>
                </a:solidFill>
                <a:latin typeface="Courier New"/>
                <a:ea typeface="Courier New"/>
                <a:cs typeface="Courier New"/>
                <a:sym typeface="Courier New"/>
              </a:rPr>
              <a:t>in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y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avg_exp.index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"Average Spending"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"Expenditure Category"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"Average Expenditure by Category and Gender"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plt.legend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title=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"Household Head Sex"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/>
              <a:t>5. Regional Spending Patterns</a:t>
            </a:r>
            <a:endParaRPr b="1" sz="2200"/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6150" y="1017725"/>
            <a:ext cx="5516159" cy="382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5"/>
          <p:cNvSpPr txBox="1"/>
          <p:nvPr/>
        </p:nvSpPr>
        <p:spPr>
          <a:xfrm>
            <a:off x="311700" y="1650425"/>
            <a:ext cx="3000000" cy="13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Insights:</a:t>
            </a:r>
            <a:endParaRPr b="1" sz="1200">
              <a:solidFill>
                <a:schemeClr val="dk1"/>
              </a:solidFill>
            </a:endParaRPr>
          </a:p>
          <a:p>
            <a:pPr indent="-121920" lvl="0" marL="914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Household spending is highest in urban regions like NCR, mostly on food, and lowest in rural areas like ARMM and Northern Mindanao.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5" name="Google Shape;225;p35"/>
          <p:cNvSpPr txBox="1"/>
          <p:nvPr/>
        </p:nvSpPr>
        <p:spPr>
          <a:xfrm>
            <a:off x="311700" y="1017725"/>
            <a:ext cx="3000000" cy="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Which regions spend the most on education, transportation, and food?</a:t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311700" y="1017725"/>
            <a:ext cx="8382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regional_spending = df.groupby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)[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'Education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'Transportation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'Total Food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.mean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.reset_index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regional_spending = regional_spending.sort_values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'Total Food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ascending=</a:t>
            </a:r>
            <a:r>
              <a:rPr lang="en" sz="1050">
                <a:solidFill>
                  <a:srgbClr val="569CD6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df_regional_spending = regional_spending.melt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id_vars=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var_name=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'Category'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value_name=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plt.figure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sns.barplot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data=df_regional_spending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x=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y=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hue=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'Category'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'Average Household Spending by Region'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'Average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'Region'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plt.legend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title=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'Category'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D966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420"/>
              <a:t>6. Personal Exploration</a:t>
            </a:r>
            <a:endParaRPr b="1" sz="2420"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3429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chemeClr val="dk1"/>
                </a:solidFill>
              </a:rPr>
              <a:t>“Impact of Lifestyle on Household Cost of Living”</a:t>
            </a:r>
            <a:endParaRPr b="1" sz="2500">
              <a:solidFill>
                <a:schemeClr val="dk1"/>
              </a:solidFill>
            </a:endParaRPr>
          </a:p>
          <a:p>
            <a:pPr indent="-203200" lvl="1" marL="62865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b="1" lang="en" sz="2100">
                <a:solidFill>
                  <a:schemeClr val="dk1"/>
                </a:solidFill>
              </a:rPr>
              <a:t>Events</a:t>
            </a:r>
            <a:r>
              <a:rPr lang="en" sz="2100">
                <a:solidFill>
                  <a:schemeClr val="dk1"/>
                </a:solidFill>
              </a:rPr>
              <a:t> - </a:t>
            </a:r>
            <a:r>
              <a:rPr lang="en" sz="2100">
                <a:solidFill>
                  <a:schemeClr val="dk1"/>
                </a:solidFill>
              </a:rPr>
              <a:t>Special Occasions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JB)</a:t>
            </a:r>
            <a:endParaRPr>
              <a:solidFill>
                <a:schemeClr val="dk1"/>
              </a:solidFill>
            </a:endParaRPr>
          </a:p>
          <a:p>
            <a:pPr indent="-203200" lvl="1" marL="6286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b="1" lang="en" sz="2100">
                <a:solidFill>
                  <a:schemeClr val="dk1"/>
                </a:solidFill>
              </a:rPr>
              <a:t>Vehicles</a:t>
            </a:r>
            <a:r>
              <a:rPr lang="en" sz="2100">
                <a:solidFill>
                  <a:schemeClr val="dk1"/>
                </a:solidFill>
              </a:rPr>
              <a:t> - </a:t>
            </a:r>
            <a:r>
              <a:rPr lang="en" sz="2100">
                <a:solidFill>
                  <a:schemeClr val="dk1"/>
                </a:solidFill>
              </a:rPr>
              <a:t>Number of Car, Jeep, Van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Matt)</a:t>
            </a:r>
            <a:endParaRPr>
              <a:solidFill>
                <a:schemeClr val="dk1"/>
              </a:solidFill>
            </a:endParaRPr>
          </a:p>
          <a:p>
            <a:pPr indent="-203200" lvl="1" marL="6286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b="1" lang="en" sz="2100">
                <a:solidFill>
                  <a:schemeClr val="dk1"/>
                </a:solidFill>
              </a:rPr>
              <a:t>Home Ownership</a:t>
            </a:r>
            <a:r>
              <a:rPr lang="en" sz="2100">
                <a:solidFill>
                  <a:schemeClr val="dk1"/>
                </a:solidFill>
              </a:rPr>
              <a:t> - </a:t>
            </a:r>
            <a:r>
              <a:rPr lang="en" sz="2100">
                <a:solidFill>
                  <a:schemeClr val="dk1"/>
                </a:solidFill>
              </a:rPr>
              <a:t>Tenure Status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John)</a:t>
            </a:r>
            <a:endParaRPr>
              <a:solidFill>
                <a:schemeClr val="dk1"/>
              </a:solidFill>
            </a:endParaRPr>
          </a:p>
          <a:p>
            <a:pPr indent="-203200" lvl="1" marL="6286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b="1" lang="en" sz="2100">
                <a:solidFill>
                  <a:schemeClr val="dk1"/>
                </a:solidFill>
              </a:rPr>
              <a:t>Fashion</a:t>
            </a:r>
            <a:r>
              <a:rPr lang="en" sz="2100">
                <a:solidFill>
                  <a:schemeClr val="dk1"/>
                </a:solidFill>
              </a:rPr>
              <a:t> - </a:t>
            </a:r>
            <a:r>
              <a:rPr lang="en" sz="2100">
                <a:solidFill>
                  <a:schemeClr val="dk1"/>
                </a:solidFill>
              </a:rPr>
              <a:t>Clothing, Footwear and Other Wear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James)</a:t>
            </a:r>
            <a:endParaRPr>
              <a:solidFill>
                <a:schemeClr val="dk1"/>
              </a:solidFill>
            </a:endParaRPr>
          </a:p>
          <a:p>
            <a:pPr indent="-203200" lvl="1" marL="62865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eriod"/>
            </a:pPr>
            <a:r>
              <a:rPr b="1" lang="en" sz="2100">
                <a:solidFill>
                  <a:schemeClr val="dk1"/>
                </a:solidFill>
              </a:rPr>
              <a:t>Vices</a:t>
            </a:r>
            <a:r>
              <a:rPr lang="en" sz="2100">
                <a:solidFill>
                  <a:schemeClr val="dk1"/>
                </a:solidFill>
              </a:rPr>
              <a:t> - </a:t>
            </a:r>
            <a:r>
              <a:rPr lang="en" sz="2100">
                <a:solidFill>
                  <a:schemeClr val="dk1"/>
                </a:solidFill>
              </a:rPr>
              <a:t>Tobacco + Alcoholic Beverages Expenditure </a:t>
            </a:r>
            <a:r>
              <a:rPr lang="en" sz="1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(by Euie)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550"/>
              <a:t>6.a. Impact of Lifestyle on Household Cost of Living: </a:t>
            </a:r>
            <a:r>
              <a:rPr b="1" lang="en" sz="1550">
                <a:solidFill>
                  <a:srgbClr val="0B5394"/>
                </a:solidFill>
              </a:rPr>
              <a:t>Special Occasions Expenditure</a:t>
            </a:r>
            <a:endParaRPr b="1" sz="1500">
              <a:solidFill>
                <a:srgbClr val="0B5394"/>
              </a:solidFill>
            </a:endParaRPr>
          </a:p>
        </p:txBody>
      </p:sp>
      <p:pic>
        <p:nvPicPr>
          <p:cNvPr id="243" name="Google Shape;24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8850" y="1017725"/>
            <a:ext cx="5013455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8"/>
          <p:cNvSpPr txBox="1"/>
          <p:nvPr/>
        </p:nvSpPr>
        <p:spPr>
          <a:xfrm>
            <a:off x="311700" y="931775"/>
            <a:ext cx="2701800" cy="20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Insights:</a:t>
            </a:r>
            <a:endParaRPr b="1" sz="1200">
              <a:solidFill>
                <a:schemeClr val="dk1"/>
              </a:solidFill>
            </a:endParaRPr>
          </a:p>
          <a:p>
            <a:pPr indent="-121920" lvl="0" marL="914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Most households spend very little on special occasions, with spending highly concentrated near zero. The relationship with cost of living is weak, varies widely across households, and includes some outliers.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45" name="Google Shape;24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8850" y="1017721"/>
            <a:ext cx="5013450" cy="38052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3500" y="931771"/>
            <a:ext cx="5818767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1017725"/>
            <a:ext cx="7816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plt.figure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sns.scatterplot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data=df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x=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'Special Occasions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y=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'Total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'Impact of Special Occasions Expenditure on Household Cost of Living'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'Annual Special Occasions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'Annual Total Household Expenditure'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700"/>
              <a:t>6.b. Impact of Lifestyle on Household Cost of Living: </a:t>
            </a:r>
            <a:r>
              <a:rPr b="1" lang="en" sz="1700">
                <a:solidFill>
                  <a:srgbClr val="0B5394"/>
                </a:solidFill>
              </a:rPr>
              <a:t>Number of Car,  Jeep, Van</a:t>
            </a:r>
            <a:endParaRPr b="1" sz="1700">
              <a:solidFill>
                <a:srgbClr val="0B5394"/>
              </a:solidFill>
            </a:endParaRPr>
          </a:p>
        </p:txBody>
      </p:sp>
      <p:pic>
        <p:nvPicPr>
          <p:cNvPr id="258" name="Google Shape;258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64490" y="1040510"/>
            <a:ext cx="5537808" cy="360472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40"/>
          <p:cNvSpPr txBox="1"/>
          <p:nvPr/>
        </p:nvSpPr>
        <p:spPr>
          <a:xfrm>
            <a:off x="311700" y="1017735"/>
            <a:ext cx="3000000" cy="35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Insights:</a:t>
            </a:r>
            <a:endParaRPr b="1" sz="11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Vehicle ownership increases significantly as households move into higher social class bands.</a:t>
            </a:r>
            <a:r>
              <a:rPr lang="en" sz="900">
                <a:solidFill>
                  <a:schemeClr val="dk1"/>
                </a:solidFill>
              </a:rPr>
              <a:t> </a:t>
            </a:r>
            <a:endParaRPr sz="900">
              <a:solidFill>
                <a:schemeClr val="dk1"/>
              </a:solidFill>
            </a:endParaRPr>
          </a:p>
          <a:p>
            <a:pPr indent="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Poor and low-income</a:t>
            </a:r>
            <a:r>
              <a:rPr lang="en" sz="900">
                <a:solidFill>
                  <a:schemeClr val="dk1"/>
                </a:solidFill>
              </a:rPr>
              <a:t> households </a:t>
            </a:r>
            <a:r>
              <a:rPr b="1" lang="en" sz="900">
                <a:solidFill>
                  <a:schemeClr val="dk1"/>
                </a:solidFill>
              </a:rPr>
              <a:t>rarely own vehicles</a:t>
            </a:r>
            <a:r>
              <a:rPr lang="en" sz="900">
                <a:solidFill>
                  <a:schemeClr val="dk1"/>
                </a:solidFill>
              </a:rPr>
              <a:t>, while </a:t>
            </a:r>
            <a:r>
              <a:rPr b="1" lang="en" sz="900">
                <a:solidFill>
                  <a:schemeClr val="dk1"/>
                </a:solidFill>
              </a:rPr>
              <a:t>middle-income households</a:t>
            </a:r>
            <a:r>
              <a:rPr lang="en" sz="900">
                <a:solidFill>
                  <a:schemeClr val="dk1"/>
                </a:solidFill>
              </a:rPr>
              <a:t> begin to show </a:t>
            </a:r>
            <a:r>
              <a:rPr b="1" lang="en" sz="900">
                <a:solidFill>
                  <a:schemeClr val="dk1"/>
                </a:solidFill>
              </a:rPr>
              <a:t>moderate vehicle ownership</a:t>
            </a:r>
            <a:r>
              <a:rPr lang="en" sz="900">
                <a:solidFill>
                  <a:schemeClr val="dk1"/>
                </a:solidFill>
              </a:rPr>
              <a:t> (</a:t>
            </a:r>
            <a:r>
              <a:rPr b="1" lang="en" sz="900">
                <a:solidFill>
                  <a:schemeClr val="dk1"/>
                </a:solidFill>
              </a:rPr>
              <a:t>around 0.5 vehicles on average</a:t>
            </a:r>
            <a:r>
              <a:rPr lang="en" sz="900">
                <a:solidFill>
                  <a:schemeClr val="dk1"/>
                </a:solidFill>
              </a:rPr>
              <a:t>).</a:t>
            </a:r>
            <a:endParaRPr sz="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Upper-</a:t>
            </a:r>
            <a:r>
              <a:rPr b="1" lang="en" sz="900">
                <a:solidFill>
                  <a:schemeClr val="dk1"/>
                </a:solidFill>
              </a:rPr>
              <a:t>middle households</a:t>
            </a:r>
            <a:r>
              <a:rPr lang="en" sz="900">
                <a:solidFill>
                  <a:schemeClr val="dk1"/>
                </a:solidFill>
              </a:rPr>
              <a:t> average </a:t>
            </a:r>
            <a:r>
              <a:rPr b="1" lang="en" sz="900">
                <a:solidFill>
                  <a:schemeClr val="dk1"/>
                </a:solidFill>
              </a:rPr>
              <a:t>about 0.9 vehicles</a:t>
            </a:r>
            <a:r>
              <a:rPr lang="en" sz="900">
                <a:solidFill>
                  <a:schemeClr val="dk1"/>
                </a:solidFill>
              </a:rPr>
              <a:t>, while </a:t>
            </a:r>
            <a:r>
              <a:rPr b="1" lang="en" sz="900">
                <a:solidFill>
                  <a:schemeClr val="dk1"/>
                </a:solidFill>
              </a:rPr>
              <a:t>upper-middle (not rich) households</a:t>
            </a:r>
            <a:r>
              <a:rPr lang="en" sz="900">
                <a:solidFill>
                  <a:schemeClr val="dk1"/>
                </a:solidFill>
              </a:rPr>
              <a:t> average </a:t>
            </a:r>
            <a:r>
              <a:rPr b="1" lang="en" sz="900">
                <a:solidFill>
                  <a:schemeClr val="dk1"/>
                </a:solidFill>
              </a:rPr>
              <a:t>roughly 1.5 vehicles</a:t>
            </a:r>
            <a:r>
              <a:rPr lang="en" sz="900">
                <a:solidFill>
                  <a:schemeClr val="dk1"/>
                </a:solidFill>
              </a:rPr>
              <a:t>, indicating that vehicle ownership becomes </a:t>
            </a:r>
            <a:r>
              <a:rPr b="1" lang="en" sz="900">
                <a:solidFill>
                  <a:schemeClr val="dk1"/>
                </a:solidFill>
              </a:rPr>
              <a:t>more common as income levels rise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102870" lvl="0" marL="9144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Rich households have the highest vehicle ownership</a:t>
            </a:r>
            <a:r>
              <a:rPr lang="en" sz="900">
                <a:solidFill>
                  <a:schemeClr val="dk1"/>
                </a:solidFill>
              </a:rPr>
              <a:t>, averaging </a:t>
            </a:r>
            <a:r>
              <a:rPr b="1" lang="en" sz="900">
                <a:solidFill>
                  <a:schemeClr val="dk1"/>
                </a:solidFill>
              </a:rPr>
              <a:t>about 2 vehicles per household</a:t>
            </a:r>
            <a:r>
              <a:rPr lang="en" sz="900">
                <a:solidFill>
                  <a:schemeClr val="dk1"/>
                </a:solidFill>
              </a:rPr>
              <a:t>, suggesting that </a:t>
            </a:r>
            <a:r>
              <a:rPr b="1" lang="en" sz="900">
                <a:solidFill>
                  <a:schemeClr val="dk1"/>
                </a:solidFill>
              </a:rPr>
              <a:t>vehicle ownership reflects lifestyle differences</a:t>
            </a:r>
            <a:r>
              <a:rPr lang="en" sz="900">
                <a:solidFill>
                  <a:schemeClr val="dk1"/>
                </a:solidFill>
              </a:rPr>
              <a:t> associated with </a:t>
            </a:r>
            <a:r>
              <a:rPr b="1" lang="en" sz="900">
                <a:solidFill>
                  <a:schemeClr val="dk1"/>
                </a:solidFill>
              </a:rPr>
              <a:t>higher income levels</a:t>
            </a:r>
            <a:r>
              <a:rPr lang="en" sz="900">
                <a:solidFill>
                  <a:schemeClr val="dk1"/>
                </a:solidFill>
              </a:rPr>
              <a:t> and </a:t>
            </a:r>
            <a:r>
              <a:rPr b="1" lang="en" sz="900">
                <a:solidFill>
                  <a:schemeClr val="dk1"/>
                </a:solidFill>
              </a:rPr>
              <a:t>increased cost of living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65" name="Google Shape;265;p41"/>
          <p:cNvSpPr txBox="1"/>
          <p:nvPr>
            <p:ph idx="1" type="body"/>
          </p:nvPr>
        </p:nvSpPr>
        <p:spPr>
          <a:xfrm>
            <a:off x="311700" y="1017725"/>
            <a:ext cx="7816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Define bins and labels (based on 'Income Brackets’)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bins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132000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264000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528000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924000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1572000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2628000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9999999999999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labels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'Poor'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'Low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'Lower Middle'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'Middle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'Upper Middle'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'Upper Middle not Rich'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'Rich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Creates Social Class Labels by Merging bins and label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'Social Class'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= pd.cut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Household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bins=bins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labels=labels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Calculates the average number of vehicles owned per social class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car_by_class = df.groupby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'Social Class'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observed=</a:t>
            </a:r>
            <a:r>
              <a:rPr lang="en" sz="9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'Number of Car, Jeep, Van'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.mean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.reset_index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Sorts social classes by average vehicle ownership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car_by_class = car_by_class.sort_values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'Number of Car, Jeep, Van'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ascending=</a:t>
            </a:r>
            <a:r>
              <a:rPr lang="en" sz="9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Creates the bar chart and forces seaborn to follow the sorted class order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sns.barplot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data=car_by_class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y=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'Social Class'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x=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'Number of Car, Jeep, Van'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order=car_by_class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'Social Class'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71" name="Google Shape;271;p42"/>
          <p:cNvSpPr txBox="1"/>
          <p:nvPr>
            <p:ph idx="1" type="body"/>
          </p:nvPr>
        </p:nvSpPr>
        <p:spPr>
          <a:xfrm>
            <a:off x="311700" y="1017725"/>
            <a:ext cx="8554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"Average Vehicle Ownership by Social Class"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"Average Number of Cars/Jeep/Vans"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"Social Class"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Creates grid lines for readability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plt.grid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axis=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'x'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linestyle=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'--'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alpha=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0.5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3"/>
          <p:cNvSpPr txBox="1"/>
          <p:nvPr>
            <p:ph type="title"/>
          </p:nvPr>
        </p:nvSpPr>
        <p:spPr>
          <a:xfrm>
            <a:off x="311700" y="169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000"/>
              <a:t>6.c. Impact of Lifestyle on Household Cost of Living: </a:t>
            </a:r>
            <a:r>
              <a:rPr b="1" lang="en" sz="2000">
                <a:solidFill>
                  <a:srgbClr val="38761D"/>
                </a:solidFill>
              </a:rPr>
              <a:t>Tenure Status</a:t>
            </a:r>
            <a:endParaRPr b="1" sz="2000">
              <a:solidFill>
                <a:srgbClr val="38761D"/>
              </a:solidFill>
            </a:endParaRPr>
          </a:p>
        </p:txBody>
      </p:sp>
      <p:pic>
        <p:nvPicPr>
          <p:cNvPr id="277" name="Google Shape;277;p43"/>
          <p:cNvPicPr preferRelativeResize="0"/>
          <p:nvPr/>
        </p:nvPicPr>
        <p:blipFill rotWithShape="1">
          <a:blip r:embed="rId3">
            <a:alphaModFix/>
          </a:blip>
          <a:srcRect b="0" l="0" r="16569" t="0"/>
          <a:stretch/>
        </p:blipFill>
        <p:spPr>
          <a:xfrm>
            <a:off x="167290" y="619591"/>
            <a:ext cx="8714950" cy="3507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43"/>
          <p:cNvPicPr preferRelativeResize="0"/>
          <p:nvPr/>
        </p:nvPicPr>
        <p:blipFill rotWithShape="1">
          <a:blip r:embed="rId3">
            <a:alphaModFix/>
          </a:blip>
          <a:srcRect b="60941" l="100000" r="16569" t="6771"/>
          <a:stretch/>
        </p:blipFill>
        <p:spPr>
          <a:xfrm flipH="1">
            <a:off x="7122084" y="3985231"/>
            <a:ext cx="1655227" cy="108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000"/>
              <a:t>6.c. Impact of Lifestyle on Household Cost of Living: </a:t>
            </a:r>
            <a:r>
              <a:rPr b="1" lang="en" sz="2000">
                <a:solidFill>
                  <a:srgbClr val="38761D"/>
                </a:solidFill>
              </a:rPr>
              <a:t>Tenure Status</a:t>
            </a:r>
            <a:endParaRPr b="1" sz="2000">
              <a:solidFill>
                <a:srgbClr val="38761D"/>
              </a:solidFill>
            </a:endParaRPr>
          </a:p>
        </p:txBody>
      </p:sp>
      <p:sp>
        <p:nvSpPr>
          <p:cNvPr id="284" name="Google Shape;284;p44"/>
          <p:cNvSpPr txBox="1"/>
          <p:nvPr>
            <p:ph idx="1" type="body"/>
          </p:nvPr>
        </p:nvSpPr>
        <p:spPr>
          <a:xfrm>
            <a:off x="559050" y="1090475"/>
            <a:ext cx="263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7145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Insights</a:t>
            </a:r>
            <a:endParaRPr b="1" sz="1300">
              <a:solidFill>
                <a:schemeClr val="dk1"/>
              </a:solidFill>
            </a:endParaRPr>
          </a:p>
          <a:p>
            <a:pPr indent="-285750" lvl="0" marL="45720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The distribution of tenure status across income brackets suggests that </a:t>
            </a:r>
            <a:r>
              <a:rPr b="1" lang="en" sz="900">
                <a:solidFill>
                  <a:schemeClr val="dk1"/>
                </a:solidFill>
              </a:rPr>
              <a:t>housing security improves with income</a:t>
            </a:r>
            <a:r>
              <a:rPr lang="en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  <a:p>
            <a:pPr indent="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2857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" sz="900">
                <a:solidFill>
                  <a:schemeClr val="dk1"/>
                </a:solidFill>
              </a:rPr>
              <a:t>Higher-income households are more likely to fully own their homes, while </a:t>
            </a:r>
            <a:r>
              <a:rPr b="1" lang="en" sz="900">
                <a:solidFill>
                  <a:schemeClr val="dk1"/>
                </a:solidFill>
              </a:rPr>
              <a:t>lower-income households exhibit a greater reliance on informal or less secure housing arrangements</a:t>
            </a:r>
            <a:endParaRPr b="1" sz="900">
              <a:solidFill>
                <a:schemeClr val="dk1"/>
              </a:solidFill>
            </a:endParaRPr>
          </a:p>
          <a:p>
            <a:pPr indent="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-2857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" sz="900">
                <a:solidFill>
                  <a:schemeClr val="dk1"/>
                </a:solidFill>
              </a:rPr>
              <a:t>Lower Middle to Middle Income may rent temporarily</a:t>
            </a:r>
            <a:r>
              <a:rPr lang="en" sz="900">
                <a:solidFill>
                  <a:schemeClr val="dk1"/>
                </a:solidFill>
              </a:rPr>
              <a:t> while building financial stability to own a house and lot.</a:t>
            </a:r>
            <a:endParaRPr sz="900">
              <a:solidFill>
                <a:schemeClr val="dk1"/>
              </a:solidFill>
            </a:endParaRPr>
          </a:p>
          <a:p>
            <a:pPr indent="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</a:endParaRPr>
          </a:p>
        </p:txBody>
      </p:sp>
      <p:pic>
        <p:nvPicPr>
          <p:cNvPr id="285" name="Google Shape;285;p44"/>
          <p:cNvPicPr preferRelativeResize="0"/>
          <p:nvPr/>
        </p:nvPicPr>
        <p:blipFill rotWithShape="1">
          <a:blip r:embed="rId3">
            <a:alphaModFix/>
          </a:blip>
          <a:srcRect b="0" l="0" r="16569" t="0"/>
          <a:stretch/>
        </p:blipFill>
        <p:spPr>
          <a:xfrm>
            <a:off x="3425775" y="901325"/>
            <a:ext cx="5361898" cy="2158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44"/>
          <p:cNvPicPr preferRelativeResize="0"/>
          <p:nvPr/>
        </p:nvPicPr>
        <p:blipFill rotWithShape="1">
          <a:blip r:embed="rId3">
            <a:alphaModFix/>
          </a:blip>
          <a:srcRect b="60941" l="100000" r="16569" t="6771"/>
          <a:stretch/>
        </p:blipFill>
        <p:spPr>
          <a:xfrm flipH="1">
            <a:off x="7704734" y="2972037"/>
            <a:ext cx="1018382" cy="66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92" name="Google Shape;292;p45"/>
          <p:cNvSpPr txBox="1"/>
          <p:nvPr>
            <p:ph idx="1" type="body"/>
          </p:nvPr>
        </p:nvSpPr>
        <p:spPr>
          <a:xfrm>
            <a:off x="311700" y="1017725"/>
            <a:ext cx="8554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 cleaning N/A data </a:t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 =df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'Tenure Status'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!=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'Not Applicable'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tenure_map = 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or owner-like possession of house and lot'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'Full Ownership'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'Rent-free house and lot with consent of owner'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'Allowed to Stay'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house, rent-free lot with consent of owner'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'Landowner Permitted'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house, rent lot'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'Legally Renting Lot'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'Rent house/room including lot'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'Formal Rental'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house, rent-free lot without consent of owner'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House, Unauthorized Lot'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'Rent-free house and lot without consent of owner'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'Informal Settlers'</a:t>
            </a:r>
            <a:endParaRPr sz="1050">
              <a:solidFill>
                <a:srgbClr val="CE9178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'Clear Tenure Status'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= 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'Tenure Status'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tenure_map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 </a:t>
            </a: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mapping the the certain categorical data inside a column to another/newly created column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 txBox="1"/>
          <p:nvPr>
            <p:ph type="title"/>
          </p:nvPr>
        </p:nvSpPr>
        <p:spPr>
          <a:xfrm>
            <a:off x="264550" y="190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298" name="Google Shape;298;p46"/>
          <p:cNvSpPr txBox="1"/>
          <p:nvPr>
            <p:ph idx="1" type="body"/>
          </p:nvPr>
        </p:nvSpPr>
        <p:spPr>
          <a:xfrm>
            <a:off x="294750" y="706525"/>
            <a:ext cx="8554500" cy="437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 Creating the variable for the proper order of the details in the graph.</a:t>
            </a:r>
            <a:endParaRPr sz="9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income_order = 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'Poor'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'Low-income'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'Lower Middle Income'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'Middle Income'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1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'Upper Middle Income'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'Upper Middle not Rich'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'Rich'</a:t>
            </a:r>
            <a:endParaRPr sz="950">
              <a:solidFill>
                <a:srgbClr val="CE9178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legend_order = 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'Full Ownership'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'Formal Rental'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'Allowed to Stay'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'Landowner Permitted'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'Legally Renting Lot'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'Own House, Unauthorized Lot'</a:t>
            </a:r>
            <a:r>
              <a:rPr lang="en" sz="9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'Informal Settlers'</a:t>
            </a:r>
            <a:endParaRPr sz="950">
              <a:solidFill>
                <a:srgbClr val="CE9178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12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304" name="Google Shape;304;p47"/>
          <p:cNvSpPr txBox="1"/>
          <p:nvPr>
            <p:ph idx="1" type="body"/>
          </p:nvPr>
        </p:nvSpPr>
        <p:spPr>
          <a:xfrm>
            <a:off x="311700" y="1017725"/>
            <a:ext cx="8554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#uses the pandas crosstab to create frequency table for 2 categorical data (row, column)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tenure_income = pd.crosstab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df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'Clear Tenure Status'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#get the sum of the each row (Inc brkt) then divide it for the freq of each column (clr tenure stat)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tenure_income = tenure_income.div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tenure_income.</a:t>
            </a:r>
            <a:r>
              <a:rPr lang="en" sz="1050">
                <a:solidFill>
                  <a:srgbClr val="DCDCAA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sum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axis=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axis=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 It  reorder the columns (clr tenure stat) of the table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tenure_income = tenure_income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legend_order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#Sort rows to spec order, then plot stacked bar graph (hor)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tenure_income.loc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income_order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.plot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kind=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'barh'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stacked=</a:t>
            </a:r>
            <a:r>
              <a:rPr lang="en" sz="1050">
                <a:solidFill>
                  <a:srgbClr val="569CD6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figsize=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15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plt.legend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title=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'Tenure Status'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bbox_to_anchor=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B5CEA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82B76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# it allows to move the legend box outside</a:t>
            </a:r>
            <a:endParaRPr sz="10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    loc=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'upper left'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'Tenure Status Distribution by Income Bracket'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E9178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'Proportion of Households'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D4D4D4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50">
                <a:solidFill>
                  <a:srgbClr val="DCDCDC"/>
                </a:solidFill>
                <a:highlight>
                  <a:srgbClr val="282A2C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50">
              <a:solidFill>
                <a:srgbClr val="DCDCD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50">
              <a:solidFill>
                <a:srgbClr val="82B76C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D4D4D4"/>
              </a:solidFill>
              <a:highlight>
                <a:srgbClr val="282A2C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350"/>
              <a:t>6.d. Impact of Lifestyle on Household Cost of Living: Clothing, Footwear and Other Wear Expenditure</a:t>
            </a:r>
            <a:endParaRPr b="1" sz="1300"/>
          </a:p>
        </p:txBody>
      </p:sp>
      <p:graphicFrame>
        <p:nvGraphicFramePr>
          <p:cNvPr id="310" name="Google Shape;310;p48"/>
          <p:cNvGraphicFramePr/>
          <p:nvPr/>
        </p:nvGraphicFramePr>
        <p:xfrm>
          <a:off x="3474350" y="1201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{31546E86-2151-4CD8-9B7F-789E5151B275}</a:tableStyleId>
              </a:tblPr>
              <a:tblGrid>
                <a:gridCol w="444450"/>
                <a:gridCol w="1148375"/>
                <a:gridCol w="1175075"/>
                <a:gridCol w="889725"/>
                <a:gridCol w="1700325"/>
              </a:tblGrid>
              <a:tr h="651625">
                <a:tc gridSpan="2"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>
                          <a:solidFill>
                            <a:schemeClr val="dk1"/>
                          </a:solidFill>
                        </a:rPr>
                        <a:t>Income Brackets</a:t>
                      </a:r>
                      <a:endParaRPr b="1" sz="9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>
                          <a:solidFill>
                            <a:schemeClr val="dk1"/>
                          </a:solidFill>
                        </a:rPr>
                        <a:t>Annual Household Income</a:t>
                      </a:r>
                      <a:endParaRPr b="1" sz="9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>
                          <a:solidFill>
                            <a:schemeClr val="dk1"/>
                          </a:solidFill>
                        </a:rPr>
                        <a:t>Total Expenditure</a:t>
                      </a:r>
                      <a:endParaRPr b="1" sz="9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50">
                          <a:solidFill>
                            <a:schemeClr val="dk1"/>
                          </a:solidFill>
                        </a:rPr>
                        <a:t>Clothing, Footwear and Other Wear Expenditure</a:t>
                      </a:r>
                      <a:endParaRPr b="1" sz="9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83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0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Poor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CC0000"/>
                          </a:solidFill>
                        </a:rPr>
                        <a:t>89464.54</a:t>
                      </a:r>
                      <a:endParaRPr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CC0000"/>
                          </a:solidFill>
                        </a:rPr>
                        <a:t>105830.75</a:t>
                      </a:r>
                      <a:endParaRPr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1889.48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83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1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Low Income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CC0000"/>
                          </a:solidFill>
                        </a:rPr>
                        <a:t>185194.68</a:t>
                      </a:r>
                      <a:endParaRPr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rgbClr val="CC0000"/>
                          </a:solidFill>
                        </a:rPr>
                        <a:t>193454.63</a:t>
                      </a:r>
                      <a:endParaRPr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3659.91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835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2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Lower Middle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364847.08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335814.17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7586.78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4422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3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Middle Income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671436.57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549882.44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13923.12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2933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4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Upper Middle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1144448.28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822478.79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21739.25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3772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5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Upper Middle not Rich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1960180.92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1189668.55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31298.32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  <a:tr h="4703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chemeClr val="dk1"/>
                          </a:solidFill>
                        </a:rPr>
                        <a:t>6</a:t>
                      </a:r>
                      <a:endParaRPr b="1"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 anchor="ctr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Rich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4205280.00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>
                          <a:solidFill>
                            <a:schemeClr val="dk1"/>
                          </a:solidFill>
                        </a:rPr>
                        <a:t>1900359.46</a:t>
                      </a:r>
                      <a:endParaRPr sz="1050">
                        <a:solidFill>
                          <a:schemeClr val="dk1"/>
                        </a:solidFill>
                      </a:endParaRPr>
                    </a:p>
                  </a:txBody>
                  <a:tcPr marT="66675" marB="66675" marR="66675" marL="6667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50">
                          <a:solidFill>
                            <a:srgbClr val="CC0000"/>
                          </a:solidFill>
                        </a:rPr>
                        <a:t>43978.75</a:t>
                      </a:r>
                      <a:endParaRPr b="1" sz="1050">
                        <a:solidFill>
                          <a:srgbClr val="CC0000"/>
                        </a:solidFill>
                      </a:endParaRPr>
                    </a:p>
                  </a:txBody>
                  <a:tcPr marT="66675" marB="66675" marR="66675" marL="66675"/>
                </a:tc>
              </a:tr>
            </a:tbl>
          </a:graphicData>
        </a:graphic>
      </p:graphicFrame>
      <p:sp>
        <p:nvSpPr>
          <p:cNvPr id="311" name="Google Shape;311;p48"/>
          <p:cNvSpPr txBox="1"/>
          <p:nvPr/>
        </p:nvSpPr>
        <p:spPr>
          <a:xfrm>
            <a:off x="311700" y="1017725"/>
            <a:ext cx="3000000" cy="35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</a:rPr>
              <a:t>Insights:</a:t>
            </a:r>
            <a:endParaRPr b="1"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Lower brackets</a:t>
            </a:r>
            <a:r>
              <a:rPr lang="en" sz="1100">
                <a:solidFill>
                  <a:schemeClr val="dk1"/>
                </a:solidFill>
              </a:rPr>
              <a:t>: Clothing is a small but steady slice of both income and expenditure (~2%).</a:t>
            </a:r>
            <a:endParaRPr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Middle brackets</a:t>
            </a:r>
            <a:r>
              <a:rPr lang="en" sz="1100">
                <a:solidFill>
                  <a:schemeClr val="dk1"/>
                </a:solidFill>
              </a:rPr>
              <a:t>: Clothing peaks as a share of total expenditure (~2.5–2.6%), suggesting lifestyle consumption rises here.</a:t>
            </a:r>
            <a:endParaRPr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Rich</a:t>
            </a:r>
            <a:r>
              <a:rPr lang="en" sz="1100">
                <a:solidFill>
                  <a:schemeClr val="dk1"/>
                </a:solidFill>
              </a:rPr>
              <a:t>: Spend far more in absolute terms, but proportionally less of their income. Clothing becomes less significant relative to wealth.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Lower bracket households spend a consistent small share of income on clothing, while higher bracket households spend much more but proportionally less.</a:t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7647" y="1201525"/>
            <a:ext cx="5394654" cy="32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350"/>
              <a:t>6.d. Impact of Lifestyle on Household Cost of Living: </a:t>
            </a:r>
            <a:r>
              <a:rPr b="1" lang="en" sz="1350">
                <a:solidFill>
                  <a:srgbClr val="FF0000"/>
                </a:solidFill>
              </a:rPr>
              <a:t>Clothing, Footwear and Other Wear Expenditure</a:t>
            </a:r>
            <a:endParaRPr b="1" sz="1350">
              <a:solidFill>
                <a:srgbClr val="FF0000"/>
              </a:solidFill>
            </a:endParaRPr>
          </a:p>
        </p:txBody>
      </p:sp>
      <p:sp>
        <p:nvSpPr>
          <p:cNvPr id="318" name="Google Shape;318;p49"/>
          <p:cNvSpPr txBox="1"/>
          <p:nvPr/>
        </p:nvSpPr>
        <p:spPr>
          <a:xfrm>
            <a:off x="311700" y="1017725"/>
            <a:ext cx="3000000" cy="35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Insights:</a:t>
            </a:r>
            <a:endParaRPr b="1"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Lower brackets</a:t>
            </a:r>
            <a:r>
              <a:rPr lang="en" sz="1100">
                <a:solidFill>
                  <a:schemeClr val="dk1"/>
                </a:solidFill>
              </a:rPr>
              <a:t>: Clothing is a small but steady slice of both income and expenditure (~2%).</a:t>
            </a:r>
            <a:endParaRPr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Middle brackets</a:t>
            </a:r>
            <a:r>
              <a:rPr lang="en" sz="1100">
                <a:solidFill>
                  <a:schemeClr val="dk1"/>
                </a:solidFill>
              </a:rPr>
              <a:t>: Clothing peaks as a share of total expenditure (~2.5–2.6%), suggesting lifestyle consumption rises here.</a:t>
            </a:r>
            <a:endParaRPr sz="1100">
              <a:solidFill>
                <a:schemeClr val="dk1"/>
              </a:solidFill>
            </a:endParaRPr>
          </a:p>
          <a:p>
            <a:pPr indent="-127000" lvl="0" marL="17145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dk1"/>
                </a:solidFill>
              </a:rPr>
              <a:t>Rich</a:t>
            </a:r>
            <a:r>
              <a:rPr lang="en" sz="1100">
                <a:solidFill>
                  <a:schemeClr val="dk1"/>
                </a:solidFill>
              </a:rPr>
              <a:t>: Spend far more in absolute terms, but proportionally less of their income. Clothing becomes less significant relative to wealth.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Lower bracket households spend a consistent small share of income on clothing, while higher bracket households spend much more but proportionally less.</a:t>
            </a:r>
            <a:endParaRPr b="1"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(Table):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324" name="Google Shape;324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bins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132_000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264_000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528_000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924_000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1_572_000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2_628_000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4EC9B0"/>
                </a:solidFill>
                <a:latin typeface="Courier New"/>
                <a:ea typeface="Courier New"/>
                <a:cs typeface="Courier New"/>
                <a:sym typeface="Courier New"/>
              </a:rPr>
              <a:t>float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'inf'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labels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'Poor'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'Low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'Lower Middle'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'Middle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'Upper Middle'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'Upper Middle not Rich'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'Rich'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Create Income Bracket column for the whole dataset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clothing_df = df.copy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clothing_df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= pd.cut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clothing_df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bins=bins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labels=labels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Group and calculate averages: income, total expenditure, clothing expenditure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summary_df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clothing_df.groupby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'Annual Household Income'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                  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'Total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                   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'Clothing, Footwear and Other Wear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.mean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.</a:t>
            </a:r>
            <a:r>
              <a:rPr lang="en" sz="9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.reset_index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summary_df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5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330" name="Google Shape;330;p5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Group by Income Bracket and calculate average clothing expenditure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clothing_summary = 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df.groupby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'Clothing, Footwear and Other Wear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.mean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.</a:t>
            </a:r>
            <a:r>
              <a:rPr lang="en" sz="900">
                <a:solidFill>
                  <a:srgbClr val="DCDCAA"/>
                </a:solidFill>
                <a:latin typeface="Courier New"/>
                <a:ea typeface="Courier New"/>
                <a:cs typeface="Courier New"/>
                <a:sym typeface="Courier New"/>
              </a:rPr>
              <a:t>round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.reset_index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Plot bar chart</a:t>
            </a:r>
            <a:endParaRPr sz="9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plt.figure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10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9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plt.barh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clothing_summary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clothing_summary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'Clothing, Footwear and Other Wear Expenditure'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color=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'red'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Clothing, Footwear and Other Wear Expenditure (Annual)'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Brackets'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'Clothing Expenditure by Income Bracket'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plt.tight_layout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9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9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sz="85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400"/>
              <a:t>6.e. Impact of Lifestyle on Household Cost of Living: </a:t>
            </a:r>
            <a:r>
              <a:rPr b="1" lang="en" sz="1400">
                <a:solidFill>
                  <a:srgbClr val="CC4125"/>
                </a:solidFill>
              </a:rPr>
              <a:t>Tobacco + Alcoholic Beverages Expenditure</a:t>
            </a:r>
            <a:endParaRPr b="1" sz="1400">
              <a:solidFill>
                <a:srgbClr val="CC4125"/>
              </a:solidFill>
            </a:endParaRPr>
          </a:p>
        </p:txBody>
      </p:sp>
      <p:pic>
        <p:nvPicPr>
          <p:cNvPr id="336" name="Google Shape;336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1"/>
            <a:ext cx="8520601" cy="33762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3"/>
          <p:cNvSpPr txBox="1"/>
          <p:nvPr>
            <p:ph idx="1" type="body"/>
          </p:nvPr>
        </p:nvSpPr>
        <p:spPr>
          <a:xfrm>
            <a:off x="311700" y="1017725"/>
            <a:ext cx="8520600" cy="345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</a:rPr>
              <a:t>Tobacco &amp; Alcohol Beverages</a:t>
            </a:r>
            <a:r>
              <a:rPr b="1" lang="en" sz="1400">
                <a:solidFill>
                  <a:schemeClr val="dk1"/>
                </a:solidFill>
              </a:rPr>
              <a:t> Spending Insights</a:t>
            </a:r>
            <a:endParaRPr b="1"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B5394"/>
                </a:solidFill>
              </a:rPr>
              <a:t>Income Bracket:</a:t>
            </a:r>
            <a:endParaRPr b="1" sz="1400">
              <a:solidFill>
                <a:srgbClr val="0B5394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Upper-middle spend the most.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Poor spend the least.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B5394"/>
                </a:solidFill>
              </a:rPr>
              <a:t>Product Comparison:</a:t>
            </a:r>
            <a:endParaRPr b="1" sz="1400">
              <a:solidFill>
                <a:srgbClr val="0B5394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Tobacco is purchased more frequently than alcohol.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Alcohol is less accessible to lower-income groups.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rgbClr val="0B5394"/>
                </a:solidFill>
              </a:rPr>
              <a:t>Factors Affecting Expenditure:</a:t>
            </a:r>
            <a:endParaRPr b="1" sz="1400">
              <a:solidFill>
                <a:srgbClr val="0B5394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 </a:t>
            </a:r>
            <a:r>
              <a:rPr lang="en" sz="1400">
                <a:solidFill>
                  <a:schemeClr val="dk1"/>
                </a:solidFill>
              </a:rPr>
              <a:t>Sin Tax (RA 10351) raises prices.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 Tobacco: Cheap, accessible, sold in singles.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 Alcohol: Expensive, less accessible, sold in bottles.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342" name="Google Shape;342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400"/>
              <a:t>6.e. Impact of Lifestyle on Household Cost of Living: </a:t>
            </a:r>
            <a:r>
              <a:rPr b="1" lang="en" sz="1400">
                <a:solidFill>
                  <a:srgbClr val="CC4125"/>
                </a:solidFill>
              </a:rPr>
              <a:t>Tobacco + Alcoholic Beverages Expenditure</a:t>
            </a:r>
            <a:endParaRPr b="1" sz="1400">
              <a:solidFill>
                <a:srgbClr val="CC4125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348" name="Google Shape;348;p5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summary_df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= pd.Categorical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summary_df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categories=labels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ordered=</a:t>
            </a:r>
            <a:r>
              <a:rPr lang="en" sz="10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endParaRPr sz="1000">
              <a:solidFill>
                <a:srgbClr val="569CD6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summary_df = summary_df.sort_values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plot_df = summary_df.melt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id_vars=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value_vars=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'Tobacco Expenditure'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'Alcoholic Beverages Expenditure'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],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var_name=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'Expenditure Type'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value_name=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Expenditure'</a:t>
            </a:r>
            <a:endParaRPr sz="1000">
              <a:solidFill>
                <a:srgbClr val="CE9178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plt.figure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figsize=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15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82A2C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00">
                <a:solidFill>
                  <a:srgbClr val="FFD966"/>
                </a:solidFill>
              </a:rPr>
              <a:t>Methodologies (Graph):</a:t>
            </a:r>
            <a:endParaRPr b="1" sz="2200">
              <a:solidFill>
                <a:srgbClr val="FFD966"/>
              </a:solidFill>
            </a:endParaRPr>
          </a:p>
        </p:txBody>
      </p:sp>
      <p:sp>
        <p:nvSpPr>
          <p:cNvPr id="354" name="Google Shape;354;p5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sns.barplot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data=plot_df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x=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'Income Bracket'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y=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Expenditure'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hue=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'Expenditure Type'</a:t>
            </a:r>
            <a:endParaRPr sz="1000">
              <a:solidFill>
                <a:srgbClr val="CE9178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plt.title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Tobacco and Alcohol Expenditures of Social Classes'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fontsize=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16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plt.xlabel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'Social Classes'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fontsize=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15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plt.ylabel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'Average Expenditure of Alcohol and Tobacco'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fontsize=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13.5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plt.xticks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rotation=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30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plt.grid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visible=</a:t>
            </a:r>
            <a:r>
              <a:rPr lang="en" sz="10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axis=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'y'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linestyle=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'--'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color=</a:t>
            </a:r>
            <a:r>
              <a:rPr lang="en" sz="10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'black'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alpha=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0.4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plt.tight_layout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plt.show</a:t>
            </a:r>
            <a:r>
              <a:rPr lang="en" sz="10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D966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56"/>
          <p:cNvSpPr txBox="1"/>
          <p:nvPr>
            <p:ph type="title"/>
          </p:nvPr>
        </p:nvSpPr>
        <p:spPr>
          <a:xfrm>
            <a:off x="311700" y="22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End.</a:t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